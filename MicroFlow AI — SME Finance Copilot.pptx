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Mona runs a bakery supply business in Cairo. Her customers owe her 2.6 million pounds. And on Sunday, she can’t pay her staff. That sounds like a contradiction, but for a lot of small businesses in Egypt it’s just a normal month. We’re team MicroFlow from ElSewedy University of Technology, and this is what we built for 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Mona isn’t an edge case. The latest World Bank Enterprise Survey found Egyptian companies finance 88 percent of their capital spending themselves; banks cover just 3 percent, compared with 15 percent across the region. Only 4.8 percent of firms use a bank for working capital, which is the money that pays salaries and suppliers. And credit isn’t cheap: the central bank’s overnight lending rate is 20 percent. The IFC estimates the lending gap for Egypt’s small businesses at around 71 billion dollars. The banks aren’t the villain here. They simply can’t assess a business that doesn’t have audited accounts.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Mona’s week. Monday she has 337 thousand in the bank, which looks fine. But twice a week about 100 thousand goes to the flour mill, and on Sunday payroll for 22 people is due: 248 thousand. Meanwhile 2.6 million is owed to her by seven customers, and they’ll pay when they pay. Today, she finds out on Sunday. Then she borrows from family, delays a supplier, or takes whatever loan she can get, usually the expensive one. To be clear, Al-Nour is a synthetic business we built for the demo, built to mirror the patterns in the figures you just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MicroFlow actually do? It reads her paperwork the way it already is. It notices which customers will pay late and when the money will run short. It compares every way to cover that gap by what it really costs. It prepares the application so she doesn’t spend an evening on forms. And then it waits. Nothing leaves the system until Mona says yes. That’s how we read the theme “AI as a financial participant”: it does real work, but she stays the one who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want Mona to learn new software or keep new books. MicroFlow works with what she already has. Bank statements as PDF or CSV, where every transaction is categorised automatically. E-invoices as XML, JSON or PDF, validated and de-duplicated. And because many micro businesses keep informal records, we also parse typed or chat-exported notes in Arabic or English. Every source file is fingerprinted with SHA-256, so any number in the credit dossier can be traced back to the document it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thing MicroFlow has to answer is simple to ask and hard to get right: when will each customer actually pay? We use an XGBoost regression model with features like the buyer’s past delays with this business, its sector, the order size relative to its usual order, the payment terms and the month. On held-out data the model’s average error is 6.5 days, versus 7.7 days for the obvious baseline of “assume this buyer’s historical average”. To be transparent: the training data is a simulation we built of B2B payment behaviour; with real ledgers it retrains on exactly the same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a credit score she can actually read. It’s built from how money moves through her account, not from audited accounts. We deliberately chose a transparent scorecard over a black box, because the owner, an advisor and a bank auditor all need to understand it. Al-Nour scores 57.9, grade C. The dossier shows why: obligations are paid like clockwork and buyers are diversified, but the cash buffer is only about 8 days and margins are thin. Because the score is under 60, the system flags it for an advisor; it never declines anyone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predicted pay dates together with her regular bills and MicroFlow forecasts cash for 13 weeks. The blue line is the base case. It dips below zero in week 1, because payroll lands before collections, and again in week 7. The orange line is the stress case: every customer 21 days later and 15 percent less collected. Alerts are raised automatically, including a concentration warning: one hotel holds 39 percent of what she is owed. The agent computes the gap to reach a 7-day cash buffer: about 392 thousand pounds.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 has to choose. It compares every product it is eligible for. Factoring four invoices with the sandbox NBFI raises 414 thousand for 17 thousand in fees. A six-month loan would cost 37 thousand, more than double. Invoice discounting is shown as not eligible, with the reason: the score is below 60. The agent drafts the factoring application. Mona reviews and approves it. The sandbox provider returns a decision and a reference. The financed invoices are then locked so they can never be pledged twice. All the providers here are simulated; no real money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and compliance is 30 percent of the score, and it is the area our team specialises in. Every sensitive field is encrypted with AES-256-GCM envelope encryption: a fresh key per value, wrapped by a master key designed to live in a KMS. Three permission tiers with tenant isolation: the auditor can verify but never change, the advisor can analyse but never approve. Every AI decision is hashed into a tamper-evident audit chain; in our evidence we edit a credit score directly in the database and the chain catches it. The agent only drafts, the owner approves, and nobody is declined automatically. We ran 12 attack tests against the live API and all 12 passed; the known-risk list is in our self-assessment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you’ve seen so far is running code. A Streamlit dashboard talks to a FastAPI backend that enforces authentication, roles and tenant isolation and writes the audit chain. Beneath it, the copilot layer does the forecasting, matching and agent planning, on top of the AI engine with the XGBoost model and the scorecard. Data sits in PostgreSQL with encrypted fields, and the whole stack starts with one Docker command. We ship 22 automated tests and a full log of every API call from our sandbox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does this help? SME owners see a cash crunch weeks ahead and pay less for the money that fixes it. Lenders and non-bank financiers get pre-vetted, explainable applications from businesses they could not assess before. Our plan for the next six months: pilot with Cairo SMEs, calibrate the model on real anonymised ledgers, and connect our first financing partner’s API. Why does it matter? According to the IFC, small businesses produce more than a third of Egypt’s GDP and employ almost 40 percent of its workers. And the business model is simple: free for the SME, with the lender paying a referral fee on each funded application, because we save them the cost of finding and assessing the borrower. [Team: replace the bracketed items with your real pilot target and fee assumption before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MicroFlow AI gets small businesses their cash on time, while every decision stays in the owner’s hands. We are Kareem, focused on security, Ahmed, on cloud and architecture, and Mostafa, on the AI. Our code, documentation, security report and full sandbox logs are in the repository.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782205"/>
          </a:xfrm>
          <a:prstGeom prst="rect">
            <a:avLst/>
          </a:prstGeom>
          <a:noFill/>
          <a:ln/>
        </p:spPr>
        <p:txBody>
          <a:bodyPr wrap="square" lIns="0" tIns="0" rIns="0" bIns="0" rtlCol="0" anchor="t"/>
          <a:lstStyle>
            <a:lvl1pPr algn="l" indent="0" marL="0">
              <a:lnSpc>
                <a:spcPct val="115000"/>
              </a:lnSpc>
              <a:buNone/>
              <a:defRPr lang="en-US" sz="3600" dirty="0">
                <a:solidFill>
                  <a:srgbClr val="0E1B33"/>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899805"/>
            <a:ext cx="10566400" cy="4145395"/>
          </a:xfrm>
          <a:prstGeom prst="rect">
            <a:avLst/>
          </a:prstGeom>
          <a:noFill/>
          <a:ln/>
        </p:spPr>
        <p:txBody>
          <a:bodyPr wrap="square" lIns="0" tIns="0" rIns="0" bIns="0" rtlCol="0" anchor="t"/>
          <a:lstStyle>
            <a:lvl1pPr algn="l" indent="0" marL="0">
              <a:lnSpc>
                <a:spcPct val="140000"/>
              </a:lnSpc>
              <a:buNone/>
              <a:defRPr lang="en-US" sz="1600" dirty="0">
                <a:solidFill>
                  <a:srgbClr val="0E1B3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782205"/>
          </a:xfrm>
          <a:prstGeom prst="rect">
            <a:avLst/>
          </a:prstGeom>
          <a:noFill/>
          <a:ln/>
        </p:spPr>
        <p:txBody>
          <a:bodyPr wrap="square" lIns="0" tIns="0" rIns="0" bIns="0" rtlCol="0" anchor="t"/>
          <a:lstStyle>
            <a:lvl1pPr algn="l" indent="0" marL="0">
              <a:lnSpc>
                <a:spcPct val="115000"/>
              </a:lnSpc>
              <a:buNone/>
              <a:defRPr lang="en-US" sz="3600" dirty="0">
                <a:solidFill>
                  <a:srgbClr val="0E1B33"/>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899805"/>
            <a:ext cx="10566400" cy="4145395"/>
          </a:xfrm>
          <a:prstGeom prst="rect">
            <a:avLst/>
          </a:prstGeom>
          <a:noFill/>
          <a:ln/>
        </p:spPr>
        <p:txBody>
          <a:bodyPr wrap="square" lIns="0" tIns="0" rIns="0" bIns="0" rtlCol="0" anchor="t"/>
          <a:lstStyle>
            <a:lvl1pPr algn="l" indent="0" marL="0">
              <a:lnSpc>
                <a:spcPct val="140000"/>
              </a:lnSpc>
              <a:buNone/>
              <a:defRPr lang="en-US" sz="1600" dirty="0">
                <a:solidFill>
                  <a:srgbClr val="0E1B3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2.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kareem-diaa/MicroFlow-AI" TargetMode="External"/><Relationship Id="rId1" Type="http://schemas.openxmlformats.org/officeDocument/2006/relationships/image" Target="../media/image-13-1.png"/><Relationship Id="rId2" Type="http://schemas.openxmlformats.org/officeDocument/2006/relationships/image" Target="../media/image-13-2.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B33"/>
        </a:solidFill>
      </p:bgPr>
    </p:bg>
    <p:spTree>
      <p:nvGrpSpPr>
        <p:cNvPr id="1" name=""/>
        <p:cNvGrpSpPr/>
        <p:nvPr/>
      </p:nvGrpSpPr>
      <p:grpSpPr>
        <a:xfrm>
          <a:off x="0" y="0"/>
          <a:ext cx="0" cy="0"/>
          <a:chOff x="0" y="0"/>
          <a:chExt cx="0" cy="0"/>
        </a:xfrm>
      </p:grpSpPr>
      <p:sp>
        <p:nvSpPr>
          <p:cNvPr id="2" name="Shape 0"/>
          <p:cNvSpPr/>
          <p:nvPr/>
        </p:nvSpPr>
        <p:spPr>
          <a:xfrm>
            <a:off x="7493000" y="0"/>
            <a:ext cx="4699000" cy="6858000"/>
          </a:xfrm>
          <a:prstGeom prst="rect">
            <a:avLst/>
          </a:prstGeom>
          <a:gradFill rotWithShape="1">
            <a:gsLst>
              <a:gs pos="0">
                <a:srgbClr val="1B3566"/>
              </a:gs>
              <a:gs pos="70000">
                <a:srgbClr val="0E1B33"/>
              </a:gs>
            </a:gsLst>
            <a:lin ang="4200000" scaled="0"/>
          </a:gradFill>
          <a:ln/>
        </p:spPr>
      </p:sp>
      <p:pic>
        <p:nvPicPr>
          <p:cNvPr id="3" name="Image 0" descr="ellipse">    </p:cNvPr>
          <p:cNvPicPr>
            <a:picLocks noChangeAspect="1"/>
          </p:cNvPicPr>
          <p:nvPr/>
        </p:nvPicPr>
        <p:blipFill>
          <a:blip r:embed="rId1"/>
          <a:srcRect l="0" r="0" t="0" b="0"/>
          <a:stretch/>
        </p:blipFill>
        <p:spPr>
          <a:xfrm>
            <a:off x="8509000" y="1397000"/>
            <a:ext cx="2667000" cy="2667000"/>
          </a:xfrm>
          <a:prstGeom prst="rect">
            <a:avLst/>
          </a:prstGeom>
        </p:spPr>
      </p:pic>
      <p:pic>
        <p:nvPicPr>
          <p:cNvPr id="4" name="Image 1" descr="ellipse">    </p:cNvPr>
          <p:cNvPicPr>
            <a:picLocks noChangeAspect="1"/>
          </p:cNvPicPr>
          <p:nvPr/>
        </p:nvPicPr>
        <p:blipFill>
          <a:blip r:embed="rId2"/>
          <a:srcRect l="0" r="0" t="0" b="0"/>
          <a:stretch/>
        </p:blipFill>
        <p:spPr>
          <a:xfrm>
            <a:off x="9652000" y="3302000"/>
            <a:ext cx="1524000" cy="1524000"/>
          </a:xfrm>
          <a:prstGeom prst="rect">
            <a:avLst/>
          </a:prstGeom>
        </p:spPr>
      </p:pic>
      <p:sp>
        <p:nvSpPr>
          <p:cNvPr id="5" name="Text 1"/>
          <p:cNvSpPr/>
          <p:nvPr/>
        </p:nvSpPr>
        <p:spPr>
          <a:xfrm>
            <a:off x="812800" y="812800"/>
            <a:ext cx="10883392" cy="27427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6DA"/>
                </a:solidFill>
                <a:latin typeface="IBM Plex Sans" pitchFamily="34" charset="0"/>
                <a:ea typeface="IBM Plex Sans" pitchFamily="34" charset="-122"/>
                <a:cs typeface="IBM Plex Sans" pitchFamily="34" charset="-120"/>
              </a:rPr>
              <a:t>FinTechathon 2026 · International Track · Topic E: SME Finance Copilot</a:t>
            </a:r>
            <a:endParaRPr lang="en-US" sz="1400" dirty="0"/>
          </a:p>
        </p:txBody>
      </p:sp>
      <p:sp>
        <p:nvSpPr>
          <p:cNvPr id="6" name="Text 2"/>
          <p:cNvSpPr/>
          <p:nvPr/>
        </p:nvSpPr>
        <p:spPr>
          <a:xfrm>
            <a:off x="812800" y="1999095"/>
            <a:ext cx="6932930" cy="1894609"/>
          </a:xfrm>
          <a:prstGeom prst="rect">
            <a:avLst/>
          </a:prstGeom>
          <a:noFill/>
          <a:ln/>
        </p:spPr>
        <p:txBody>
          <a:bodyPr wrap="square" lIns="0" tIns="0" rIns="0" bIns="0" rtlCol="0" anchor="t">
            <a:normAutofit/>
          </a:bodyPr>
          <a:lstStyle/>
          <a:p>
            <a:pPr algn="l" indent="0" marL="0">
              <a:lnSpc>
                <a:spcPts val="3680"/>
              </a:lnSpc>
              <a:buNone/>
            </a:pPr>
            <a:r>
              <a:rPr lang="en-US" sz="3200" dirty="0">
                <a:solidFill>
                  <a:srgbClr val="F5F6F2"/>
                </a:solidFill>
                <a:latin typeface="Space Grotesk" pitchFamily="34" charset="0"/>
                <a:ea typeface="Space Grotesk" pitchFamily="34" charset="-122"/>
                <a:cs typeface="Space Grotesk" pitchFamily="34" charset="-120"/>
              </a:rPr>
              <a:t>Mona’s customers owe her 2.6 million pounds.</a:t>
            </a:r>
            <a:endParaRPr lang="en-US" sz="3200" dirty="0"/>
          </a:p>
          <a:p>
            <a:pPr algn="l" indent="0" marL="0">
              <a:lnSpc>
                <a:spcPts val="3680"/>
              </a:lnSpc>
              <a:buNone/>
            </a:pPr>
            <a:r>
              <a:rPr lang="en-US" sz="3200" dirty="0">
                <a:solidFill>
                  <a:srgbClr val="E8893A"/>
                </a:solidFill>
                <a:latin typeface="Space Grotesk" pitchFamily="34" charset="0"/>
                <a:ea typeface="Space Grotesk" pitchFamily="34" charset="-122"/>
                <a:cs typeface="Space Grotesk" pitchFamily="34" charset="-120"/>
              </a:rPr>
              <a:t>On Sunday, she can’t make payroll.</a:t>
            </a:r>
            <a:endParaRPr lang="en-US" sz="3200" dirty="0"/>
          </a:p>
        </p:txBody>
      </p:sp>
      <p:sp>
        <p:nvSpPr>
          <p:cNvPr id="7" name="Text 3"/>
          <p:cNvSpPr/>
          <p:nvPr>
            <p:ph type="title"/>
          </p:nvPr>
        </p:nvSpPr>
        <p:spPr>
          <a:xfrm>
            <a:off x="812800" y="4096905"/>
            <a:ext cx="6932930" cy="787400"/>
          </a:xfrm>
          <a:prstGeom prst="rect">
            <a:avLst/>
          </a:prstGeom>
          <a:noFill/>
          <a:ln/>
        </p:spPr>
        <p:txBody>
          <a:bodyPr wrap="square" lIns="0" tIns="0" rIns="0" bIns="0" rtlCol="0" anchor="t">
            <a:normAutofit/>
          </a:bodyPr>
          <a:lstStyle/>
          <a:p>
            <a:pPr algn="l" indent="0" marL="0">
              <a:lnSpc>
                <a:spcPts val="6000"/>
              </a:lnSpc>
              <a:buNone/>
            </a:pPr>
            <a:r>
              <a:rPr lang="en-US" sz="6000" b="1" i="0" dirty="0">
                <a:solidFill>
                  <a:srgbClr val="F5F6F2"/>
                </a:solidFill>
                <a:latin typeface="Space Grotesk" pitchFamily="34" charset="0"/>
                <a:ea typeface="Space Grotesk" pitchFamily="34" charset="-122"/>
                <a:cs typeface="Space Grotesk" pitchFamily="34" charset="-120"/>
              </a:rPr>
              <a:t>MicroFlow AI</a:t>
            </a:r>
            <a:endParaRPr lang="en-US" sz="6000" dirty="0"/>
          </a:p>
        </p:txBody>
      </p:sp>
      <p:sp>
        <p:nvSpPr>
          <p:cNvPr id="8" name="Text 4"/>
          <p:cNvSpPr/>
          <p:nvPr/>
        </p:nvSpPr>
        <p:spPr>
          <a:xfrm>
            <a:off x="812800" y="5796323"/>
            <a:ext cx="10883392" cy="27427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6DA"/>
                </a:solidFill>
                <a:latin typeface="IBM Plex Sans" pitchFamily="34" charset="0"/>
                <a:ea typeface="IBM Plex Sans" pitchFamily="34" charset="-122"/>
                <a:cs typeface="IBM Plex Sans" pitchFamily="34" charset="-120"/>
              </a:rPr>
              <a:t>Kareem Diaa Helal · Ahmed Mohamed · Mostafa Abdelhamed · ElSewedy University of Technology, Cairo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9810750" cy="1031153"/>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B33"/>
                </a:solidFill>
                <a:latin typeface="Space Grotesk" pitchFamily="34" charset="0"/>
                <a:ea typeface="Space Grotesk" pitchFamily="34" charset="-122"/>
                <a:cs typeface="Space Grotesk" pitchFamily="34" charset="-120"/>
              </a:rPr>
              <a:t>Mona isn’t unusual. Most Egyptian firms fund themselves.</a:t>
            </a:r>
            <a:endParaRPr lang="en-US" sz="3600" dirty="0"/>
          </a:p>
        </p:txBody>
      </p:sp>
      <p:sp>
        <p:nvSpPr>
          <p:cNvPr id="3" name="Shape 1"/>
          <p:cNvSpPr/>
          <p:nvPr/>
        </p:nvSpPr>
        <p:spPr>
          <a:xfrm>
            <a:off x="815975" y="2177328"/>
            <a:ext cx="3380293" cy="2098386"/>
          </a:xfrm>
          <a:prstGeom prst="roundRect">
            <a:avLst>
              <a:gd name="adj" fmla="val 5901"/>
            </a:avLst>
          </a:prstGeom>
          <a:solidFill>
            <a:srgbClr val="FFFFFF"/>
          </a:solidFill>
          <a:ln w="6350">
            <a:solidFill>
              <a:srgbClr val="DDE2DA"/>
            </a:solidFill>
            <a:prstDash val="solid"/>
          </a:ln>
        </p:spPr>
      </p:sp>
      <p:sp>
        <p:nvSpPr>
          <p:cNvPr id="4" name="Text 2"/>
          <p:cNvSpPr/>
          <p:nvPr/>
        </p:nvSpPr>
        <p:spPr>
          <a:xfrm>
            <a:off x="1096818" y="2458172"/>
            <a:ext cx="2903164" cy="685800"/>
          </a:xfrm>
          <a:prstGeom prst="rect">
            <a:avLst/>
          </a:prstGeom>
          <a:noFill/>
          <a:ln/>
        </p:spPr>
        <p:txBody>
          <a:bodyPr wrap="square" lIns="0" tIns="0" rIns="0" bIns="0" rtlCol="0" anchor="t">
            <a:normAutofit/>
          </a:bodyPr>
          <a:lstStyle/>
          <a:p>
            <a:pPr algn="l" indent="0" marL="0">
              <a:lnSpc>
                <a:spcPts val="5200"/>
              </a:lnSpc>
              <a:buNone/>
            </a:pPr>
            <a:r>
              <a:rPr lang="en-US" sz="5200" b="1" dirty="0">
                <a:solidFill>
                  <a:srgbClr val="2F6FDF"/>
                </a:solidFill>
                <a:latin typeface="Space Grotesk" pitchFamily="34" charset="0"/>
                <a:ea typeface="Space Grotesk" pitchFamily="34" charset="-122"/>
                <a:cs typeface="Space Grotesk" pitchFamily="34" charset="-120"/>
              </a:rPr>
              <a:t>88%</a:t>
            </a:r>
            <a:endParaRPr lang="en-US" sz="5200" dirty="0"/>
          </a:p>
        </p:txBody>
      </p:sp>
      <p:sp>
        <p:nvSpPr>
          <p:cNvPr id="5" name="Text 3"/>
          <p:cNvSpPr/>
          <p:nvPr/>
        </p:nvSpPr>
        <p:spPr>
          <a:xfrm>
            <a:off x="1096818" y="3194772"/>
            <a:ext cx="290316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6536A"/>
                </a:solidFill>
                <a:latin typeface="IBM Plex Sans" pitchFamily="34" charset="0"/>
                <a:ea typeface="IBM Plex Sans" pitchFamily="34" charset="-122"/>
                <a:cs typeface="IBM Plex Sans" pitchFamily="34" charset="-120"/>
              </a:rPr>
              <a:t>of capital spending is self-financed. Banks fund 3%, against 15% across MENA.</a:t>
            </a:r>
            <a:endParaRPr lang="en-US" sz="1500" dirty="0"/>
          </a:p>
        </p:txBody>
      </p:sp>
      <p:sp>
        <p:nvSpPr>
          <p:cNvPr id="6" name="Shape 4"/>
          <p:cNvSpPr/>
          <p:nvPr/>
        </p:nvSpPr>
        <p:spPr>
          <a:xfrm>
            <a:off x="4405818" y="2177328"/>
            <a:ext cx="3380365" cy="2098386"/>
          </a:xfrm>
          <a:prstGeom prst="roundRect">
            <a:avLst>
              <a:gd name="adj" fmla="val 5901"/>
            </a:avLst>
          </a:prstGeom>
          <a:solidFill>
            <a:srgbClr val="FFFFFF"/>
          </a:solidFill>
          <a:ln w="6350">
            <a:solidFill>
              <a:srgbClr val="DDE2DA"/>
            </a:solidFill>
            <a:prstDash val="solid"/>
          </a:ln>
        </p:spPr>
      </p:sp>
      <p:sp>
        <p:nvSpPr>
          <p:cNvPr id="7" name="Text 5"/>
          <p:cNvSpPr/>
          <p:nvPr/>
        </p:nvSpPr>
        <p:spPr>
          <a:xfrm>
            <a:off x="4686661" y="2458172"/>
            <a:ext cx="2903239" cy="685800"/>
          </a:xfrm>
          <a:prstGeom prst="rect">
            <a:avLst/>
          </a:prstGeom>
          <a:noFill/>
          <a:ln/>
        </p:spPr>
        <p:txBody>
          <a:bodyPr wrap="square" lIns="0" tIns="0" rIns="0" bIns="0" rtlCol="0" anchor="t">
            <a:normAutofit/>
          </a:bodyPr>
          <a:lstStyle/>
          <a:p>
            <a:pPr algn="l" indent="0" marL="0">
              <a:lnSpc>
                <a:spcPts val="5200"/>
              </a:lnSpc>
              <a:buNone/>
            </a:pPr>
            <a:r>
              <a:rPr lang="en-US" sz="5200" b="1" dirty="0">
                <a:solidFill>
                  <a:srgbClr val="2F6FDF"/>
                </a:solidFill>
                <a:latin typeface="Space Grotesk" pitchFamily="34" charset="0"/>
                <a:ea typeface="Space Grotesk" pitchFamily="34" charset="-122"/>
                <a:cs typeface="Space Grotesk" pitchFamily="34" charset="-120"/>
              </a:rPr>
              <a:t>4.8%</a:t>
            </a:r>
            <a:endParaRPr lang="en-US" sz="5200" dirty="0"/>
          </a:p>
        </p:txBody>
      </p:sp>
      <p:sp>
        <p:nvSpPr>
          <p:cNvPr id="8" name="Text 6"/>
          <p:cNvSpPr/>
          <p:nvPr/>
        </p:nvSpPr>
        <p:spPr>
          <a:xfrm>
            <a:off x="4686661" y="3194772"/>
            <a:ext cx="2903239"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6536A"/>
                </a:solidFill>
                <a:latin typeface="IBM Plex Sans" pitchFamily="34" charset="0"/>
                <a:ea typeface="IBM Plex Sans" pitchFamily="34" charset="-122"/>
                <a:cs typeface="IBM Plex Sans" pitchFamily="34" charset="-120"/>
              </a:rPr>
              <a:t>of firms use a bank to finance working capital, the money that pays salaries.</a:t>
            </a:r>
            <a:endParaRPr lang="en-US" sz="1500" dirty="0"/>
          </a:p>
        </p:txBody>
      </p:sp>
      <p:sp>
        <p:nvSpPr>
          <p:cNvPr id="9" name="Shape 7"/>
          <p:cNvSpPr/>
          <p:nvPr/>
        </p:nvSpPr>
        <p:spPr>
          <a:xfrm>
            <a:off x="7995733" y="2177328"/>
            <a:ext cx="3380293" cy="2098386"/>
          </a:xfrm>
          <a:prstGeom prst="roundRect">
            <a:avLst>
              <a:gd name="adj" fmla="val 5901"/>
            </a:avLst>
          </a:prstGeom>
          <a:solidFill>
            <a:srgbClr val="FFFFFF"/>
          </a:solidFill>
          <a:ln w="6350">
            <a:solidFill>
              <a:srgbClr val="DDE2DA"/>
            </a:solidFill>
            <a:prstDash val="solid"/>
          </a:ln>
        </p:spPr>
      </p:sp>
      <p:sp>
        <p:nvSpPr>
          <p:cNvPr id="10" name="Text 8"/>
          <p:cNvSpPr/>
          <p:nvPr/>
        </p:nvSpPr>
        <p:spPr>
          <a:xfrm>
            <a:off x="8276576" y="2458172"/>
            <a:ext cx="2903164" cy="685800"/>
          </a:xfrm>
          <a:prstGeom prst="rect">
            <a:avLst/>
          </a:prstGeom>
          <a:noFill/>
          <a:ln/>
        </p:spPr>
        <p:txBody>
          <a:bodyPr wrap="square" lIns="0" tIns="0" rIns="0" bIns="0" rtlCol="0" anchor="t">
            <a:normAutofit/>
          </a:bodyPr>
          <a:lstStyle/>
          <a:p>
            <a:pPr algn="l" indent="0" marL="0">
              <a:lnSpc>
                <a:spcPts val="5200"/>
              </a:lnSpc>
              <a:buNone/>
            </a:pPr>
            <a:r>
              <a:rPr lang="en-US" sz="5200" b="1" dirty="0">
                <a:solidFill>
                  <a:srgbClr val="C4651C"/>
                </a:solidFill>
                <a:latin typeface="Space Grotesk" pitchFamily="34" charset="0"/>
                <a:ea typeface="Space Grotesk" pitchFamily="34" charset="-122"/>
                <a:cs typeface="Space Grotesk" pitchFamily="34" charset="-120"/>
              </a:rPr>
              <a:t>20%</a:t>
            </a:r>
            <a:endParaRPr lang="en-US" sz="5200" dirty="0"/>
          </a:p>
        </p:txBody>
      </p:sp>
      <p:sp>
        <p:nvSpPr>
          <p:cNvPr id="11" name="Text 9"/>
          <p:cNvSpPr/>
          <p:nvPr/>
        </p:nvSpPr>
        <p:spPr>
          <a:xfrm>
            <a:off x="8276576" y="3194772"/>
            <a:ext cx="290316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6536A"/>
                </a:solidFill>
                <a:latin typeface="IBM Plex Sans" pitchFamily="34" charset="0"/>
                <a:ea typeface="IBM Plex Sans" pitchFamily="34" charset="-122"/>
                <a:cs typeface="IBM Plex Sans" pitchFamily="34" charset="-120"/>
              </a:rPr>
              <a:t>CBE overnight lending rate. Even when credit exists, picking the wrong product hurts.</a:t>
            </a:r>
            <a:endParaRPr lang="en-US" sz="1500" dirty="0"/>
          </a:p>
        </p:txBody>
      </p:sp>
      <p:sp>
        <p:nvSpPr>
          <p:cNvPr id="12" name="Text 10"/>
          <p:cNvSpPr/>
          <p:nvPr/>
        </p:nvSpPr>
        <p:spPr>
          <a:xfrm>
            <a:off x="812800" y="4634490"/>
            <a:ext cx="98107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6536A"/>
                </a:solidFill>
                <a:latin typeface="IBM Plex Sans" pitchFamily="34" charset="0"/>
                <a:ea typeface="IBM Plex Sans" pitchFamily="34" charset="-122"/>
                <a:cs typeface="IBM Plex Sans" pitchFamily="34" charset="-120"/>
              </a:rPr>
              <a:t>IFC puts the lending gap for Egypt’s small businesses at about </a:t>
            </a:r>
            <a:r>
              <a:rPr lang="en-US" sz="1500" b="1" dirty="0">
                <a:solidFill>
                  <a:srgbClr val="0E1B33"/>
                </a:solidFill>
                <a:latin typeface="IBM Plex Sans" pitchFamily="34" charset="0"/>
                <a:ea typeface="IBM Plex Sans" pitchFamily="34" charset="-122"/>
                <a:cs typeface="IBM Plex Sans" pitchFamily="34" charset="-120"/>
              </a:rPr>
              <a:t>USD 71 billion</a:t>
            </a:r>
            <a:r>
              <a:rPr lang="en-US" sz="1500" dirty="0">
                <a:solidFill>
                  <a:srgbClr val="46536A"/>
                </a:solidFill>
                <a:latin typeface="IBM Plex Sans" pitchFamily="34" charset="0"/>
                <a:ea typeface="IBM Plex Sans" pitchFamily="34" charset="-122"/>
                <a:cs typeface="IBM Plex Sans" pitchFamily="34" charset="-120"/>
              </a:rPr>
              <a:t>. Banks want to lend more; they just can’t read firms without audited accounts.</a:t>
            </a:r>
            <a:endParaRPr lang="en-US" sz="1500" dirty="0"/>
          </a:p>
        </p:txBody>
      </p:sp>
      <p:sp>
        <p:nvSpPr>
          <p:cNvPr id="13" name="Text 11"/>
          <p:cNvSpPr/>
          <p:nvPr/>
        </p:nvSpPr>
        <p:spPr>
          <a:xfrm>
            <a:off x="812800" y="6106247"/>
            <a:ext cx="10883392" cy="421553"/>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6A7488"/>
                </a:solidFill>
                <a:latin typeface="IBM Plex Sans" pitchFamily="34" charset="0"/>
                <a:ea typeface="IBM Plex Sans" pitchFamily="34" charset="-122"/>
                <a:cs typeface="IBM Plex Sans" pitchFamily="34" charset="-120"/>
              </a:rPr>
              <a:t>Sources: World Bank Enterprise Survey 2025/26 via EnterpriseAM (Jun 2026) · World Bank Enterprise Survey 2020 · CBE MPC, rate held 24 Sep 2026 · IFC press release, Dec 2023</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B33"/>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7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5F6F2"/>
                </a:solidFill>
                <a:latin typeface="Space Grotesk" pitchFamily="34" charset="0"/>
                <a:ea typeface="Space Grotesk" pitchFamily="34" charset="-122"/>
                <a:cs typeface="Space Grotesk" pitchFamily="34" charset="-120"/>
              </a:rPr>
              <a:t>Mona’s week</a:t>
            </a:r>
            <a:endParaRPr lang="en-US" sz="3600" dirty="0"/>
          </a:p>
        </p:txBody>
      </p:sp>
      <p:sp>
        <p:nvSpPr>
          <p:cNvPr id="3" name="Shape 1"/>
          <p:cNvSpPr/>
          <p:nvPr/>
        </p:nvSpPr>
        <p:spPr>
          <a:xfrm>
            <a:off x="812800" y="1690328"/>
            <a:ext cx="2641600" cy="0"/>
          </a:xfrm>
          <a:prstGeom prst="line">
            <a:avLst/>
          </a:prstGeom>
          <a:noFill/>
          <a:ln w="38100">
            <a:solidFill>
              <a:srgbClr val="7FA8F0"/>
            </a:solidFill>
            <a:prstDash val="solid"/>
          </a:ln>
        </p:spPr>
      </p:sp>
      <p:sp>
        <p:nvSpPr>
          <p:cNvPr id="4" name="Text 2"/>
          <p:cNvSpPr/>
          <p:nvPr/>
        </p:nvSpPr>
        <p:spPr>
          <a:xfrm>
            <a:off x="1041400" y="1936823"/>
            <a:ext cx="2249932" cy="27427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7FA8F0"/>
                </a:solidFill>
                <a:latin typeface="IBM Plex Sans" pitchFamily="34" charset="0"/>
                <a:ea typeface="IBM Plex Sans" pitchFamily="34" charset="-122"/>
                <a:cs typeface="IBM Plex Sans" pitchFamily="34" charset="-120"/>
              </a:rPr>
              <a:t>Monday 19 Oct</a:t>
            </a:r>
            <a:endParaRPr lang="en-US" sz="1400" dirty="0"/>
          </a:p>
        </p:txBody>
      </p:sp>
      <p:sp>
        <p:nvSpPr>
          <p:cNvPr id="5" name="Text 3"/>
          <p:cNvSpPr/>
          <p:nvPr/>
        </p:nvSpPr>
        <p:spPr>
          <a:xfrm>
            <a:off x="1041400" y="2274599"/>
            <a:ext cx="2249932" cy="523226"/>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5F6F2"/>
                </a:solidFill>
                <a:latin typeface="Space Grotesk" pitchFamily="34" charset="0"/>
                <a:ea typeface="Space Grotesk" pitchFamily="34" charset="-122"/>
                <a:cs typeface="Space Grotesk" pitchFamily="34" charset="-120"/>
              </a:rPr>
              <a:t>EGP 337k</a:t>
            </a:r>
            <a:endParaRPr lang="en-US" sz="2800" dirty="0"/>
          </a:p>
        </p:txBody>
      </p:sp>
      <p:sp>
        <p:nvSpPr>
          <p:cNvPr id="6" name="Text 4"/>
          <p:cNvSpPr/>
          <p:nvPr/>
        </p:nvSpPr>
        <p:spPr>
          <a:xfrm>
            <a:off x="1041400" y="2861325"/>
            <a:ext cx="2249932" cy="27427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6DA"/>
                </a:solidFill>
                <a:latin typeface="IBM Plex Sans" pitchFamily="34" charset="0"/>
                <a:ea typeface="IBM Plex Sans" pitchFamily="34" charset="-122"/>
                <a:cs typeface="IBM Plex Sans" pitchFamily="34" charset="-120"/>
              </a:rPr>
              <a:t>in the bank. Looks fine.</a:t>
            </a:r>
            <a:endParaRPr lang="en-US" sz="1400" dirty="0"/>
          </a:p>
        </p:txBody>
      </p:sp>
      <p:sp>
        <p:nvSpPr>
          <p:cNvPr id="7" name="Shape 5"/>
          <p:cNvSpPr/>
          <p:nvPr/>
        </p:nvSpPr>
        <p:spPr>
          <a:xfrm>
            <a:off x="3454400" y="1690328"/>
            <a:ext cx="2641600" cy="0"/>
          </a:xfrm>
          <a:prstGeom prst="line">
            <a:avLst/>
          </a:prstGeom>
          <a:noFill/>
          <a:ln w="38100">
            <a:solidFill>
              <a:srgbClr val="9AA7BD"/>
            </a:solidFill>
            <a:prstDash val="solid"/>
          </a:ln>
        </p:spPr>
      </p:sp>
      <p:sp>
        <p:nvSpPr>
          <p:cNvPr id="8" name="Text 6"/>
          <p:cNvSpPr/>
          <p:nvPr/>
        </p:nvSpPr>
        <p:spPr>
          <a:xfrm>
            <a:off x="3683000" y="1936823"/>
            <a:ext cx="2249932" cy="27427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9C6DA"/>
                </a:solidFill>
                <a:latin typeface="IBM Plex Sans" pitchFamily="34" charset="0"/>
                <a:ea typeface="IBM Plex Sans" pitchFamily="34" charset="-122"/>
                <a:cs typeface="IBM Plex Sans" pitchFamily="34" charset="-120"/>
              </a:rPr>
              <a:t>Mon &amp; Thu</a:t>
            </a:r>
            <a:endParaRPr lang="en-US" sz="1400" dirty="0"/>
          </a:p>
        </p:txBody>
      </p:sp>
      <p:sp>
        <p:nvSpPr>
          <p:cNvPr id="9" name="Text 7"/>
          <p:cNvSpPr/>
          <p:nvPr/>
        </p:nvSpPr>
        <p:spPr>
          <a:xfrm>
            <a:off x="3683000" y="2274599"/>
            <a:ext cx="2249932" cy="523226"/>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5F6F2"/>
                </a:solidFill>
                <a:latin typeface="Space Grotesk" pitchFamily="34" charset="0"/>
                <a:ea typeface="Space Grotesk" pitchFamily="34" charset="-122"/>
                <a:cs typeface="Space Grotesk" pitchFamily="34" charset="-120"/>
              </a:rPr>
              <a:t>~EGP 100k</a:t>
            </a:r>
            <a:endParaRPr lang="en-US" sz="2800" dirty="0"/>
          </a:p>
        </p:txBody>
      </p:sp>
      <p:sp>
        <p:nvSpPr>
          <p:cNvPr id="10" name="Text 8"/>
          <p:cNvSpPr/>
          <p:nvPr/>
        </p:nvSpPr>
        <p:spPr>
          <a:xfrm>
            <a:off x="3683000" y="2861325"/>
            <a:ext cx="2249932" cy="52315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6DA"/>
                </a:solidFill>
                <a:latin typeface="IBM Plex Sans" pitchFamily="34" charset="0"/>
                <a:ea typeface="IBM Plex Sans" pitchFamily="34" charset="-122"/>
                <a:cs typeface="IBM Plex Sans" pitchFamily="34" charset="-120"/>
              </a:rPr>
              <a:t>to the flour mill, twice a week.</a:t>
            </a:r>
            <a:endParaRPr lang="en-US" sz="1400" dirty="0"/>
          </a:p>
        </p:txBody>
      </p:sp>
      <p:sp>
        <p:nvSpPr>
          <p:cNvPr id="11" name="Shape 9"/>
          <p:cNvSpPr/>
          <p:nvPr/>
        </p:nvSpPr>
        <p:spPr>
          <a:xfrm>
            <a:off x="6096000" y="1690328"/>
            <a:ext cx="2641600" cy="0"/>
          </a:xfrm>
          <a:prstGeom prst="line">
            <a:avLst/>
          </a:prstGeom>
          <a:noFill/>
          <a:ln w="38100">
            <a:solidFill>
              <a:srgbClr val="E8893A"/>
            </a:solidFill>
            <a:prstDash val="solid"/>
          </a:ln>
        </p:spPr>
      </p:sp>
      <p:sp>
        <p:nvSpPr>
          <p:cNvPr id="12" name="Text 10"/>
          <p:cNvSpPr/>
          <p:nvPr/>
        </p:nvSpPr>
        <p:spPr>
          <a:xfrm>
            <a:off x="6324600" y="1936823"/>
            <a:ext cx="2249932" cy="27427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8893A"/>
                </a:solidFill>
                <a:latin typeface="IBM Plex Sans" pitchFamily="34" charset="0"/>
                <a:ea typeface="IBM Plex Sans" pitchFamily="34" charset="-122"/>
                <a:cs typeface="IBM Plex Sans" pitchFamily="34" charset="-120"/>
              </a:rPr>
              <a:t>Sunday 25 Oct</a:t>
            </a:r>
            <a:endParaRPr lang="en-US" sz="1400" dirty="0"/>
          </a:p>
        </p:txBody>
      </p:sp>
      <p:sp>
        <p:nvSpPr>
          <p:cNvPr id="13" name="Text 11"/>
          <p:cNvSpPr/>
          <p:nvPr/>
        </p:nvSpPr>
        <p:spPr>
          <a:xfrm>
            <a:off x="6324600" y="2274599"/>
            <a:ext cx="2249932" cy="523226"/>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5F6F2"/>
                </a:solidFill>
                <a:latin typeface="Space Grotesk" pitchFamily="34" charset="0"/>
                <a:ea typeface="Space Grotesk" pitchFamily="34" charset="-122"/>
                <a:cs typeface="Space Grotesk" pitchFamily="34" charset="-120"/>
              </a:rPr>
              <a:t>EGP 248k</a:t>
            </a:r>
            <a:endParaRPr lang="en-US" sz="2800" dirty="0"/>
          </a:p>
        </p:txBody>
      </p:sp>
      <p:sp>
        <p:nvSpPr>
          <p:cNvPr id="14" name="Text 12"/>
          <p:cNvSpPr/>
          <p:nvPr/>
        </p:nvSpPr>
        <p:spPr>
          <a:xfrm>
            <a:off x="6324600" y="2861325"/>
            <a:ext cx="2249932" cy="27427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6DA"/>
                </a:solidFill>
                <a:latin typeface="IBM Plex Sans" pitchFamily="34" charset="0"/>
                <a:ea typeface="IBM Plex Sans" pitchFamily="34" charset="-122"/>
                <a:cs typeface="IBM Plex Sans" pitchFamily="34" charset="-120"/>
              </a:rPr>
              <a:t>payroll for 22 people.</a:t>
            </a:r>
            <a:endParaRPr lang="en-US" sz="1400" dirty="0"/>
          </a:p>
        </p:txBody>
      </p:sp>
      <p:sp>
        <p:nvSpPr>
          <p:cNvPr id="15" name="Shape 13"/>
          <p:cNvSpPr/>
          <p:nvPr/>
        </p:nvSpPr>
        <p:spPr>
          <a:xfrm>
            <a:off x="8737600" y="1690328"/>
            <a:ext cx="2641600" cy="0"/>
          </a:xfrm>
          <a:prstGeom prst="line">
            <a:avLst/>
          </a:prstGeom>
          <a:noFill/>
          <a:ln w="38100">
            <a:solidFill>
              <a:srgbClr val="9AA7BD"/>
            </a:solidFill>
            <a:prstDash val="solid"/>
          </a:ln>
        </p:spPr>
      </p:sp>
      <p:sp>
        <p:nvSpPr>
          <p:cNvPr id="16" name="Text 14"/>
          <p:cNvSpPr/>
          <p:nvPr/>
        </p:nvSpPr>
        <p:spPr>
          <a:xfrm>
            <a:off x="8966200" y="1936823"/>
            <a:ext cx="2249932" cy="27427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9C6DA"/>
                </a:solidFill>
                <a:latin typeface="IBM Plex Sans" pitchFamily="34" charset="0"/>
                <a:ea typeface="IBM Plex Sans" pitchFamily="34" charset="-122"/>
                <a:cs typeface="IBM Plex Sans" pitchFamily="34" charset="-120"/>
              </a:rPr>
              <a:t>Meanwhile</a:t>
            </a:r>
            <a:endParaRPr lang="en-US" sz="1400" dirty="0"/>
          </a:p>
        </p:txBody>
      </p:sp>
      <p:sp>
        <p:nvSpPr>
          <p:cNvPr id="17" name="Text 15"/>
          <p:cNvSpPr/>
          <p:nvPr/>
        </p:nvSpPr>
        <p:spPr>
          <a:xfrm>
            <a:off x="8966200" y="2274599"/>
            <a:ext cx="2249932" cy="523226"/>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5F6F2"/>
                </a:solidFill>
                <a:latin typeface="Space Grotesk" pitchFamily="34" charset="0"/>
                <a:ea typeface="Space Grotesk" pitchFamily="34" charset="-122"/>
                <a:cs typeface="Space Grotesk" pitchFamily="34" charset="-120"/>
              </a:rPr>
              <a:t>EGP 2.63M</a:t>
            </a:r>
            <a:endParaRPr lang="en-US" sz="2800" dirty="0"/>
          </a:p>
        </p:txBody>
      </p:sp>
      <p:sp>
        <p:nvSpPr>
          <p:cNvPr id="18" name="Text 16"/>
          <p:cNvSpPr/>
          <p:nvPr/>
        </p:nvSpPr>
        <p:spPr>
          <a:xfrm>
            <a:off x="8966200" y="2861325"/>
            <a:ext cx="2249932" cy="77203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6DA"/>
                </a:solidFill>
                <a:latin typeface="IBM Plex Sans" pitchFamily="34" charset="0"/>
                <a:ea typeface="IBM Plex Sans" pitchFamily="34" charset="-122"/>
                <a:cs typeface="IBM Plex Sans" pitchFamily="34" charset="-120"/>
              </a:rPr>
              <a:t>owed by 7 customers, arriving whenever they choose.</a:t>
            </a:r>
            <a:endParaRPr lang="en-US" sz="1400" dirty="0"/>
          </a:p>
        </p:txBody>
      </p:sp>
      <p:sp>
        <p:nvSpPr>
          <p:cNvPr id="19" name="Text 17"/>
          <p:cNvSpPr/>
          <p:nvPr/>
        </p:nvSpPr>
        <p:spPr>
          <a:xfrm>
            <a:off x="812800" y="4192155"/>
            <a:ext cx="981075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C6DA"/>
                </a:solidFill>
                <a:latin typeface="IBM Plex Sans" pitchFamily="34" charset="0"/>
                <a:ea typeface="IBM Plex Sans" pitchFamily="34" charset="-122"/>
                <a:cs typeface="IBM Plex Sans" pitchFamily="34" charset="-120"/>
              </a:rPr>
              <a:t>She finds out on Sunday. Then she calls a cousin, delays a supplier, or takes the first loan anyone offers.</a:t>
            </a:r>
            <a:endParaRPr lang="en-US" sz="1500" dirty="0"/>
          </a:p>
        </p:txBody>
      </p:sp>
      <p:sp>
        <p:nvSpPr>
          <p:cNvPr id="20" name="Text 18"/>
          <p:cNvSpPr/>
          <p:nvPr/>
        </p:nvSpPr>
        <p:spPr>
          <a:xfrm>
            <a:off x="812800" y="6289098"/>
            <a:ext cx="10883392" cy="2387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488"/>
                </a:solidFill>
                <a:latin typeface="IBM Plex Sans" pitchFamily="34" charset="0"/>
                <a:ea typeface="IBM Plex Sans" pitchFamily="34" charset="-122"/>
                <a:cs typeface="IBM Plex Sans" pitchFamily="34" charset="-120"/>
              </a:rPr>
              <a:t>Al-Nour Bakery Supplies is a synthetic demo business: 6 months of statements, 94 e-invoices, built from realistic patterns.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11430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0E1B33"/>
                </a:solidFill>
                <a:latin typeface="Space Grotesk" pitchFamily="34" charset="0"/>
                <a:ea typeface="Space Grotesk" pitchFamily="34" charset="-122"/>
                <a:cs typeface="Space Grotesk" pitchFamily="34" charset="-120"/>
              </a:rPr>
              <a:t>What MicroFlow does for her, and where it stops</a:t>
            </a:r>
            <a:endParaRPr lang="en-US" sz="4000" dirty="0"/>
          </a:p>
        </p:txBody>
      </p:sp>
      <p:sp>
        <p:nvSpPr>
          <p:cNvPr id="3" name="Shape 1"/>
          <p:cNvSpPr/>
          <p:nvPr/>
        </p:nvSpPr>
        <p:spPr>
          <a:xfrm>
            <a:off x="815975" y="2339975"/>
            <a:ext cx="1621054" cy="1860766"/>
          </a:xfrm>
          <a:prstGeom prst="roundRect">
            <a:avLst>
              <a:gd name="adj" fmla="val 7639"/>
            </a:avLst>
          </a:prstGeom>
          <a:solidFill>
            <a:srgbClr val="FFFFFF"/>
          </a:solidFill>
          <a:ln w="6350">
            <a:solidFill>
              <a:srgbClr val="DDE2DA"/>
            </a:solidFill>
            <a:prstDash val="solid"/>
          </a:ln>
        </p:spPr>
      </p:sp>
      <p:pic>
        <p:nvPicPr>
          <p:cNvPr id="4" name="Image 0" descr="Search">    </p:cNvPr>
          <p:cNvPicPr>
            <a:picLocks noChangeAspect="1"/>
          </p:cNvPicPr>
          <p:nvPr/>
        </p:nvPicPr>
        <p:blipFill>
          <a:blip r:embed="rId1"/>
          <a:srcRect l="0" r="0" t="0" b="0"/>
          <a:stretch/>
        </p:blipFill>
        <p:spPr>
          <a:xfrm>
            <a:off x="995218" y="2519218"/>
            <a:ext cx="355600" cy="355600"/>
          </a:xfrm>
          <a:prstGeom prst="rect">
            <a:avLst/>
          </a:prstGeom>
        </p:spPr>
      </p:pic>
      <p:sp>
        <p:nvSpPr>
          <p:cNvPr id="5" name="Text 2"/>
          <p:cNvSpPr/>
          <p:nvPr/>
        </p:nvSpPr>
        <p:spPr>
          <a:xfrm>
            <a:off x="995218" y="2951018"/>
            <a:ext cx="1313368" cy="29967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1B33"/>
                </a:solidFill>
                <a:latin typeface="Space Grotesk" pitchFamily="34" charset="0"/>
                <a:ea typeface="Space Grotesk" pitchFamily="34" charset="-122"/>
                <a:cs typeface="Space Grotesk" pitchFamily="34" charset="-120"/>
              </a:rPr>
              <a:t>Reads</a:t>
            </a:r>
            <a:endParaRPr lang="en-US" sz="1800" dirty="0"/>
          </a:p>
        </p:txBody>
      </p:sp>
      <p:sp>
        <p:nvSpPr>
          <p:cNvPr id="6" name="Text 3"/>
          <p:cNvSpPr/>
          <p:nvPr/>
        </p:nvSpPr>
        <p:spPr>
          <a:xfrm>
            <a:off x="995218" y="3301496"/>
            <a:ext cx="1313368" cy="745403"/>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6536A"/>
                </a:solidFill>
                <a:latin typeface="IBM Plex Sans" pitchFamily="34" charset="0"/>
                <a:ea typeface="IBM Plex Sans" pitchFamily="34" charset="-122"/>
                <a:cs typeface="IBM Plex Sans" pitchFamily="34" charset="-120"/>
              </a:rPr>
              <a:t>her statements and invoices, as they are</a:t>
            </a:r>
            <a:endParaRPr lang="en-US" sz="1400" dirty="0"/>
          </a:p>
        </p:txBody>
      </p:sp>
      <p:pic>
        <p:nvPicPr>
          <p:cNvPr id="7" name="Image 1" descr="arrow-right">    </p:cNvPr>
          <p:cNvPicPr>
            <a:picLocks noChangeAspect="1"/>
          </p:cNvPicPr>
          <p:nvPr/>
        </p:nvPicPr>
        <p:blipFill>
          <a:blip r:embed="rId2"/>
          <a:srcRect l="0" r="0" t="0" b="0"/>
          <a:stretch/>
        </p:blipFill>
        <p:spPr>
          <a:xfrm>
            <a:off x="2567204" y="3181423"/>
            <a:ext cx="355600" cy="177800"/>
          </a:xfrm>
          <a:prstGeom prst="rect">
            <a:avLst/>
          </a:prstGeom>
        </p:spPr>
      </p:pic>
      <p:sp>
        <p:nvSpPr>
          <p:cNvPr id="8" name="Shape 4"/>
          <p:cNvSpPr/>
          <p:nvPr/>
        </p:nvSpPr>
        <p:spPr>
          <a:xfrm>
            <a:off x="3052979" y="2339975"/>
            <a:ext cx="1621126" cy="1860766"/>
          </a:xfrm>
          <a:prstGeom prst="roundRect">
            <a:avLst>
              <a:gd name="adj" fmla="val 7638"/>
            </a:avLst>
          </a:prstGeom>
          <a:solidFill>
            <a:srgbClr val="FFFFFF"/>
          </a:solidFill>
          <a:ln w="6350">
            <a:solidFill>
              <a:srgbClr val="DDE2DA"/>
            </a:solidFill>
            <a:prstDash val="solid"/>
          </a:ln>
        </p:spPr>
      </p:sp>
      <p:pic>
        <p:nvPicPr>
          <p:cNvPr id="9" name="Image 2" descr="Chart">    </p:cNvPr>
          <p:cNvPicPr>
            <a:picLocks noChangeAspect="1"/>
          </p:cNvPicPr>
          <p:nvPr/>
        </p:nvPicPr>
        <p:blipFill>
          <a:blip r:embed="rId3"/>
          <a:srcRect l="0" r="0" t="0" b="0"/>
          <a:stretch/>
        </p:blipFill>
        <p:spPr>
          <a:xfrm>
            <a:off x="3232222" y="2519218"/>
            <a:ext cx="355600" cy="355600"/>
          </a:xfrm>
          <a:prstGeom prst="rect">
            <a:avLst/>
          </a:prstGeom>
        </p:spPr>
      </p:pic>
      <p:sp>
        <p:nvSpPr>
          <p:cNvPr id="10" name="Text 5"/>
          <p:cNvSpPr/>
          <p:nvPr/>
        </p:nvSpPr>
        <p:spPr>
          <a:xfrm>
            <a:off x="3232222" y="2951018"/>
            <a:ext cx="1313440" cy="29967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1B33"/>
                </a:solidFill>
                <a:latin typeface="Space Grotesk" pitchFamily="34" charset="0"/>
                <a:ea typeface="Space Grotesk" pitchFamily="34" charset="-122"/>
                <a:cs typeface="Space Grotesk" pitchFamily="34" charset="-120"/>
              </a:rPr>
              <a:t>Notices</a:t>
            </a:r>
            <a:endParaRPr lang="en-US" sz="1800" dirty="0"/>
          </a:p>
        </p:txBody>
      </p:sp>
      <p:sp>
        <p:nvSpPr>
          <p:cNvPr id="11" name="Text 6"/>
          <p:cNvSpPr/>
          <p:nvPr/>
        </p:nvSpPr>
        <p:spPr>
          <a:xfrm>
            <a:off x="3232222" y="3301496"/>
            <a:ext cx="1313440" cy="745403"/>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6536A"/>
                </a:solidFill>
                <a:latin typeface="IBM Plex Sans" pitchFamily="34" charset="0"/>
                <a:ea typeface="IBM Plex Sans" pitchFamily="34" charset="-122"/>
                <a:cs typeface="IBM Plex Sans" pitchFamily="34" charset="-120"/>
              </a:rPr>
              <a:t>who will pay late and when cash runs short</a:t>
            </a:r>
            <a:endParaRPr lang="en-US" sz="1400" dirty="0"/>
          </a:p>
        </p:txBody>
      </p:sp>
      <p:pic>
        <p:nvPicPr>
          <p:cNvPr id="12" name="Image 3" descr="arrow-right">    </p:cNvPr>
          <p:cNvPicPr>
            <a:picLocks noChangeAspect="1"/>
          </p:cNvPicPr>
          <p:nvPr/>
        </p:nvPicPr>
        <p:blipFill>
          <a:blip r:embed="rId4"/>
          <a:srcRect l="0" r="0" t="0" b="0"/>
          <a:stretch/>
        </p:blipFill>
        <p:spPr>
          <a:xfrm>
            <a:off x="4804280" y="3181423"/>
            <a:ext cx="355600" cy="177800"/>
          </a:xfrm>
          <a:prstGeom prst="rect">
            <a:avLst/>
          </a:prstGeom>
        </p:spPr>
      </p:pic>
      <p:sp>
        <p:nvSpPr>
          <p:cNvPr id="13" name="Shape 7"/>
          <p:cNvSpPr/>
          <p:nvPr/>
        </p:nvSpPr>
        <p:spPr>
          <a:xfrm>
            <a:off x="5290055" y="2339975"/>
            <a:ext cx="1621054" cy="1860766"/>
          </a:xfrm>
          <a:prstGeom prst="roundRect">
            <a:avLst>
              <a:gd name="adj" fmla="val 7639"/>
            </a:avLst>
          </a:prstGeom>
          <a:solidFill>
            <a:srgbClr val="FFFFFF"/>
          </a:solidFill>
          <a:ln w="6350">
            <a:solidFill>
              <a:srgbClr val="DDE2DA"/>
            </a:solidFill>
            <a:prstDash val="solid"/>
          </a:ln>
        </p:spPr>
      </p:sp>
      <p:pic>
        <p:nvPicPr>
          <p:cNvPr id="14" name="Image 4" descr="Lightbulb">    </p:cNvPr>
          <p:cNvPicPr>
            <a:picLocks noChangeAspect="1"/>
          </p:cNvPicPr>
          <p:nvPr/>
        </p:nvPicPr>
        <p:blipFill>
          <a:blip r:embed="rId5"/>
          <a:srcRect l="0" r="0" t="0" b="0"/>
          <a:stretch/>
        </p:blipFill>
        <p:spPr>
          <a:xfrm>
            <a:off x="5469298" y="2519218"/>
            <a:ext cx="355600" cy="355600"/>
          </a:xfrm>
          <a:prstGeom prst="rect">
            <a:avLst/>
          </a:prstGeom>
        </p:spPr>
      </p:pic>
      <p:sp>
        <p:nvSpPr>
          <p:cNvPr id="15" name="Text 8"/>
          <p:cNvSpPr/>
          <p:nvPr/>
        </p:nvSpPr>
        <p:spPr>
          <a:xfrm>
            <a:off x="5469298" y="2951018"/>
            <a:ext cx="1313368" cy="29967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1B33"/>
                </a:solidFill>
                <a:latin typeface="Space Grotesk" pitchFamily="34" charset="0"/>
                <a:ea typeface="Space Grotesk" pitchFamily="34" charset="-122"/>
                <a:cs typeface="Space Grotesk" pitchFamily="34" charset="-120"/>
              </a:rPr>
              <a:t>Compares</a:t>
            </a:r>
            <a:endParaRPr lang="en-US" sz="1800" dirty="0"/>
          </a:p>
        </p:txBody>
      </p:sp>
      <p:sp>
        <p:nvSpPr>
          <p:cNvPr id="16" name="Text 9"/>
          <p:cNvSpPr/>
          <p:nvPr/>
        </p:nvSpPr>
        <p:spPr>
          <a:xfrm>
            <a:off x="5469298" y="3301496"/>
            <a:ext cx="1313368" cy="745403"/>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6536A"/>
                </a:solidFill>
                <a:latin typeface="IBM Plex Sans" pitchFamily="34" charset="0"/>
                <a:ea typeface="IBM Plex Sans" pitchFamily="34" charset="-122"/>
                <a:cs typeface="IBM Plex Sans" pitchFamily="34" charset="-120"/>
              </a:rPr>
              <a:t>every way to cover the gap, by real cost</a:t>
            </a:r>
            <a:endParaRPr lang="en-US" sz="1400" dirty="0"/>
          </a:p>
        </p:txBody>
      </p:sp>
      <p:pic>
        <p:nvPicPr>
          <p:cNvPr id="17" name="Image 5" descr="arrow-right">    </p:cNvPr>
          <p:cNvPicPr>
            <a:picLocks noChangeAspect="1"/>
          </p:cNvPicPr>
          <p:nvPr/>
        </p:nvPicPr>
        <p:blipFill>
          <a:blip r:embed="rId6"/>
          <a:srcRect l="0" r="0" t="0" b="0"/>
          <a:stretch/>
        </p:blipFill>
        <p:spPr>
          <a:xfrm>
            <a:off x="7041284" y="3181423"/>
            <a:ext cx="355600" cy="177800"/>
          </a:xfrm>
          <a:prstGeom prst="rect">
            <a:avLst/>
          </a:prstGeom>
        </p:spPr>
      </p:pic>
      <p:sp>
        <p:nvSpPr>
          <p:cNvPr id="18" name="Shape 10"/>
          <p:cNvSpPr/>
          <p:nvPr/>
        </p:nvSpPr>
        <p:spPr>
          <a:xfrm>
            <a:off x="7527059" y="2339975"/>
            <a:ext cx="1621126" cy="1860766"/>
          </a:xfrm>
          <a:prstGeom prst="roundRect">
            <a:avLst>
              <a:gd name="adj" fmla="val 7638"/>
            </a:avLst>
          </a:prstGeom>
          <a:solidFill>
            <a:srgbClr val="FFFFFF"/>
          </a:solidFill>
          <a:ln w="6350">
            <a:solidFill>
              <a:srgbClr val="DDE2DA"/>
            </a:solidFill>
            <a:prstDash val="solid"/>
          </a:ln>
        </p:spPr>
      </p:sp>
      <p:pic>
        <p:nvPicPr>
          <p:cNvPr id="19" name="Image 6" descr="PaperPlane">    </p:cNvPr>
          <p:cNvPicPr>
            <a:picLocks noChangeAspect="1"/>
          </p:cNvPicPr>
          <p:nvPr/>
        </p:nvPicPr>
        <p:blipFill>
          <a:blip r:embed="rId7"/>
          <a:srcRect l="0" r="0" t="0" b="0"/>
          <a:stretch/>
        </p:blipFill>
        <p:spPr>
          <a:xfrm>
            <a:off x="7706302" y="2519218"/>
            <a:ext cx="355600" cy="355600"/>
          </a:xfrm>
          <a:prstGeom prst="rect">
            <a:avLst/>
          </a:prstGeom>
        </p:spPr>
      </p:pic>
      <p:sp>
        <p:nvSpPr>
          <p:cNvPr id="20" name="Text 11"/>
          <p:cNvSpPr/>
          <p:nvPr/>
        </p:nvSpPr>
        <p:spPr>
          <a:xfrm>
            <a:off x="7706302" y="2951018"/>
            <a:ext cx="1313440" cy="29967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1B33"/>
                </a:solidFill>
                <a:latin typeface="Space Grotesk" pitchFamily="34" charset="0"/>
                <a:ea typeface="Space Grotesk" pitchFamily="34" charset="-122"/>
                <a:cs typeface="Space Grotesk" pitchFamily="34" charset="-120"/>
              </a:rPr>
              <a:t>Prepares</a:t>
            </a:r>
            <a:endParaRPr lang="en-US" sz="1800" dirty="0"/>
          </a:p>
        </p:txBody>
      </p:sp>
      <p:sp>
        <p:nvSpPr>
          <p:cNvPr id="21" name="Text 12"/>
          <p:cNvSpPr/>
          <p:nvPr/>
        </p:nvSpPr>
        <p:spPr>
          <a:xfrm>
            <a:off x="7706302" y="3301496"/>
            <a:ext cx="1313440" cy="745403"/>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6536A"/>
                </a:solidFill>
                <a:latin typeface="IBM Plex Sans" pitchFamily="34" charset="0"/>
                <a:ea typeface="IBM Plex Sans" pitchFamily="34" charset="-122"/>
                <a:cs typeface="IBM Plex Sans" pitchFamily="34" charset="-120"/>
              </a:rPr>
              <a:t>the application, so she doesn’t fill forms</a:t>
            </a:r>
            <a:endParaRPr lang="en-US" sz="1400" dirty="0"/>
          </a:p>
        </p:txBody>
      </p:sp>
      <p:pic>
        <p:nvPicPr>
          <p:cNvPr id="22" name="Image 7" descr="arrow-right">    </p:cNvPr>
          <p:cNvPicPr>
            <a:picLocks noChangeAspect="1"/>
          </p:cNvPicPr>
          <p:nvPr/>
        </p:nvPicPr>
        <p:blipFill>
          <a:blip r:embed="rId8"/>
          <a:srcRect l="0" r="0" t="0" b="0"/>
          <a:stretch/>
        </p:blipFill>
        <p:spPr>
          <a:xfrm>
            <a:off x="9278361" y="3181423"/>
            <a:ext cx="355600" cy="177800"/>
          </a:xfrm>
          <a:prstGeom prst="rect">
            <a:avLst/>
          </a:prstGeom>
        </p:spPr>
      </p:pic>
      <p:sp>
        <p:nvSpPr>
          <p:cNvPr id="23" name="Shape 13"/>
          <p:cNvSpPr/>
          <p:nvPr/>
        </p:nvSpPr>
        <p:spPr>
          <a:xfrm>
            <a:off x="9760961" y="2341418"/>
            <a:ext cx="1618240" cy="1857880"/>
          </a:xfrm>
          <a:prstGeom prst="roundRect">
            <a:avLst>
              <a:gd name="adj" fmla="val 7848"/>
            </a:avLst>
          </a:prstGeom>
          <a:solidFill>
            <a:srgbClr val="0E1B33"/>
          </a:solidFill>
          <a:ln/>
        </p:spPr>
      </p:sp>
      <p:pic>
        <p:nvPicPr>
          <p:cNvPr id="24" name="Image 8" descr="Verified">    </p:cNvPr>
          <p:cNvPicPr>
            <a:picLocks noChangeAspect="1"/>
          </p:cNvPicPr>
          <p:nvPr/>
        </p:nvPicPr>
        <p:blipFill>
          <a:blip r:embed="rId9"/>
          <a:srcRect l="0" r="0" t="0" b="0"/>
          <a:stretch/>
        </p:blipFill>
        <p:spPr>
          <a:xfrm>
            <a:off x="9938761" y="2519218"/>
            <a:ext cx="355600" cy="355600"/>
          </a:xfrm>
          <a:prstGeom prst="rect">
            <a:avLst/>
          </a:prstGeom>
        </p:spPr>
      </p:pic>
      <p:sp>
        <p:nvSpPr>
          <p:cNvPr id="25" name="Text 14"/>
          <p:cNvSpPr/>
          <p:nvPr/>
        </p:nvSpPr>
        <p:spPr>
          <a:xfrm>
            <a:off x="9938761" y="2951018"/>
            <a:ext cx="1313440" cy="29967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6F2"/>
                </a:solidFill>
                <a:latin typeface="Space Grotesk" pitchFamily="34" charset="0"/>
                <a:ea typeface="Space Grotesk" pitchFamily="34" charset="-122"/>
                <a:cs typeface="Space Grotesk" pitchFamily="34" charset="-120"/>
              </a:rPr>
              <a:t>Waits</a:t>
            </a:r>
            <a:endParaRPr lang="en-US" sz="1800" dirty="0"/>
          </a:p>
        </p:txBody>
      </p:sp>
      <p:sp>
        <p:nvSpPr>
          <p:cNvPr id="26" name="Text 15"/>
          <p:cNvSpPr/>
          <p:nvPr/>
        </p:nvSpPr>
        <p:spPr>
          <a:xfrm>
            <a:off x="9938761" y="3301496"/>
            <a:ext cx="1313440" cy="745403"/>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B9C6DA"/>
                </a:solidFill>
                <a:latin typeface="IBM Plex Sans" pitchFamily="34" charset="0"/>
                <a:ea typeface="IBM Plex Sans" pitchFamily="34" charset="-122"/>
                <a:cs typeface="IBM Plex Sans" pitchFamily="34" charset="-120"/>
              </a:rPr>
              <a:t>for her yes. Nothing leaves without it.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AEDE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11430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0E1B33"/>
                </a:solidFill>
                <a:latin typeface="Space Grotesk" pitchFamily="34" charset="0"/>
                <a:ea typeface="Space Grotesk" pitchFamily="34" charset="-122"/>
                <a:cs typeface="Space Grotesk" pitchFamily="34" charset="-120"/>
              </a:rPr>
              <a:t>She doesn’t have to change how she works</a:t>
            </a:r>
            <a:endParaRPr lang="en-US" sz="4000" dirty="0"/>
          </a:p>
        </p:txBody>
      </p:sp>
      <p:sp>
        <p:nvSpPr>
          <p:cNvPr id="3" name="Shape 1"/>
          <p:cNvSpPr/>
          <p:nvPr/>
        </p:nvSpPr>
        <p:spPr>
          <a:xfrm>
            <a:off x="812800" y="2286000"/>
            <a:ext cx="3386643" cy="2692256"/>
          </a:xfrm>
          <a:prstGeom prst="roundRect">
            <a:avLst>
              <a:gd name="adj" fmla="val 4717"/>
            </a:avLst>
          </a:prstGeom>
          <a:solidFill>
            <a:srgbClr val="FFFFFF"/>
          </a:solidFill>
          <a:ln/>
        </p:spPr>
      </p:sp>
      <p:pic>
        <p:nvPicPr>
          <p:cNvPr id="4" name="Image 0" descr="Book">    </p:cNvPr>
          <p:cNvPicPr>
            <a:picLocks noChangeAspect="1"/>
          </p:cNvPicPr>
          <p:nvPr/>
        </p:nvPicPr>
        <p:blipFill>
          <a:blip r:embed="rId1"/>
          <a:srcRect l="0" r="0" t="0" b="0"/>
          <a:stretch/>
        </p:blipFill>
        <p:spPr>
          <a:xfrm>
            <a:off x="1092200" y="2565400"/>
            <a:ext cx="406400" cy="406400"/>
          </a:xfrm>
          <a:prstGeom prst="rect">
            <a:avLst/>
          </a:prstGeom>
        </p:spPr>
      </p:pic>
      <p:sp>
        <p:nvSpPr>
          <p:cNvPr id="5" name="Text 2"/>
          <p:cNvSpPr/>
          <p:nvPr/>
        </p:nvSpPr>
        <p:spPr>
          <a:xfrm>
            <a:off x="1092200" y="3098800"/>
            <a:ext cx="2912678" cy="360651"/>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E1B33"/>
                </a:solidFill>
                <a:latin typeface="Space Grotesk" pitchFamily="34" charset="0"/>
                <a:ea typeface="Space Grotesk" pitchFamily="34" charset="-122"/>
                <a:cs typeface="Space Grotesk" pitchFamily="34" charset="-120"/>
              </a:rPr>
              <a:t>Bank statements</a:t>
            </a:r>
            <a:endParaRPr lang="en-US" sz="2200" dirty="0"/>
          </a:p>
        </p:txBody>
      </p:sp>
      <p:sp>
        <p:nvSpPr>
          <p:cNvPr id="6" name="Text 3"/>
          <p:cNvSpPr/>
          <p:nvPr/>
        </p:nvSpPr>
        <p:spPr>
          <a:xfrm>
            <a:off x="1092200" y="3561051"/>
            <a:ext cx="2912678" cy="1163205"/>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36A"/>
                </a:solidFill>
                <a:latin typeface="IBM Plex Sans" pitchFamily="34" charset="0"/>
                <a:ea typeface="IBM Plex Sans" pitchFamily="34" charset="-122"/>
                <a:cs typeface="IBM Plex Sans" pitchFamily="34" charset="-120"/>
              </a:rPr>
              <a:t>PDF or CSV. Every line auto-tagged: InstaPay inflows, payroll, rent, utilities, suppliers.</a:t>
            </a:r>
            <a:endParaRPr lang="en-US" sz="1600" dirty="0"/>
          </a:p>
        </p:txBody>
      </p:sp>
      <p:sp>
        <p:nvSpPr>
          <p:cNvPr id="7" name="Shape 4"/>
          <p:cNvSpPr/>
          <p:nvPr/>
        </p:nvSpPr>
        <p:spPr>
          <a:xfrm>
            <a:off x="4402643" y="2286000"/>
            <a:ext cx="3386715" cy="2692256"/>
          </a:xfrm>
          <a:prstGeom prst="roundRect">
            <a:avLst>
              <a:gd name="adj" fmla="val 4717"/>
            </a:avLst>
          </a:prstGeom>
          <a:solidFill>
            <a:srgbClr val="FFFFFF"/>
          </a:solidFill>
          <a:ln/>
        </p:spPr>
      </p:sp>
      <p:pic>
        <p:nvPicPr>
          <p:cNvPr id="8" name="Image 1" descr="Database">    </p:cNvPr>
          <p:cNvPicPr>
            <a:picLocks noChangeAspect="1"/>
          </p:cNvPicPr>
          <p:nvPr/>
        </p:nvPicPr>
        <p:blipFill>
          <a:blip r:embed="rId2"/>
          <a:srcRect l="0" r="0" t="0" b="0"/>
          <a:stretch/>
        </p:blipFill>
        <p:spPr>
          <a:xfrm>
            <a:off x="4682043" y="2565400"/>
            <a:ext cx="406400" cy="406400"/>
          </a:xfrm>
          <a:prstGeom prst="rect">
            <a:avLst/>
          </a:prstGeom>
        </p:spPr>
      </p:pic>
      <p:sp>
        <p:nvSpPr>
          <p:cNvPr id="9" name="Text 5"/>
          <p:cNvSpPr/>
          <p:nvPr/>
        </p:nvSpPr>
        <p:spPr>
          <a:xfrm>
            <a:off x="4682043" y="3098800"/>
            <a:ext cx="2912752" cy="360651"/>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E1B33"/>
                </a:solidFill>
                <a:latin typeface="Space Grotesk" pitchFamily="34" charset="0"/>
                <a:ea typeface="Space Grotesk" pitchFamily="34" charset="-122"/>
                <a:cs typeface="Space Grotesk" pitchFamily="34" charset="-120"/>
              </a:rPr>
              <a:t>E-invoices</a:t>
            </a:r>
            <a:endParaRPr lang="en-US" sz="2200" dirty="0"/>
          </a:p>
        </p:txBody>
      </p:sp>
      <p:sp>
        <p:nvSpPr>
          <p:cNvPr id="10" name="Text 6"/>
          <p:cNvSpPr/>
          <p:nvPr/>
        </p:nvSpPr>
        <p:spPr>
          <a:xfrm>
            <a:off x="4682043" y="3561051"/>
            <a:ext cx="2912752" cy="878753"/>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36A"/>
                </a:solidFill>
                <a:latin typeface="IBM Plex Sans" pitchFamily="34" charset="0"/>
                <a:ea typeface="IBM Plex Sans" pitchFamily="34" charset="-122"/>
                <a:cs typeface="IBM Plex Sans" pitchFamily="34" charset="-120"/>
              </a:rPr>
              <a:t>XML batches, JSON or PDF. Validated, de-duplicated, buyer ids pseudonymised.</a:t>
            </a:r>
            <a:endParaRPr lang="en-US" sz="1600" dirty="0"/>
          </a:p>
        </p:txBody>
      </p:sp>
      <p:sp>
        <p:nvSpPr>
          <p:cNvPr id="11" name="Shape 7"/>
          <p:cNvSpPr/>
          <p:nvPr/>
        </p:nvSpPr>
        <p:spPr>
          <a:xfrm>
            <a:off x="7992558" y="2286000"/>
            <a:ext cx="3386643" cy="2692256"/>
          </a:xfrm>
          <a:prstGeom prst="roundRect">
            <a:avLst>
              <a:gd name="adj" fmla="val 4717"/>
            </a:avLst>
          </a:prstGeom>
          <a:solidFill>
            <a:srgbClr val="FFFFFF"/>
          </a:solidFill>
          <a:ln/>
        </p:spPr>
      </p:sp>
      <p:pic>
        <p:nvPicPr>
          <p:cNvPr id="12" name="Image 2" descr="Chat">    </p:cNvPr>
          <p:cNvPicPr>
            <a:picLocks noChangeAspect="1"/>
          </p:cNvPicPr>
          <p:nvPr/>
        </p:nvPicPr>
        <p:blipFill>
          <a:blip r:embed="rId3"/>
          <a:srcRect l="0" r="0" t="0" b="0"/>
          <a:stretch/>
        </p:blipFill>
        <p:spPr>
          <a:xfrm>
            <a:off x="8271958" y="2565400"/>
            <a:ext cx="406400" cy="406400"/>
          </a:xfrm>
          <a:prstGeom prst="rect">
            <a:avLst/>
          </a:prstGeom>
        </p:spPr>
      </p:pic>
      <p:sp>
        <p:nvSpPr>
          <p:cNvPr id="13" name="Text 8"/>
          <p:cNvSpPr/>
          <p:nvPr/>
        </p:nvSpPr>
        <p:spPr>
          <a:xfrm>
            <a:off x="8271958" y="3098800"/>
            <a:ext cx="2912678" cy="360651"/>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E1B33"/>
                </a:solidFill>
                <a:latin typeface="Space Grotesk" pitchFamily="34" charset="0"/>
                <a:ea typeface="Space Grotesk" pitchFamily="34" charset="-122"/>
                <a:cs typeface="Space Grotesk" pitchFamily="34" charset="-120"/>
              </a:rPr>
              <a:t>Informal notes</a:t>
            </a:r>
            <a:endParaRPr lang="en-US" sz="2200" dirty="0"/>
          </a:p>
        </p:txBody>
      </p:sp>
      <p:sp>
        <p:nvSpPr>
          <p:cNvPr id="14" name="Text 9"/>
          <p:cNvSpPr/>
          <p:nvPr/>
        </p:nvSpPr>
        <p:spPr>
          <a:xfrm>
            <a:off x="8271958" y="3561051"/>
            <a:ext cx="2912678" cy="1163205"/>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36A"/>
                </a:solidFill>
                <a:latin typeface="IBM Plex Sans" pitchFamily="34" charset="0"/>
                <a:ea typeface="IBM Plex Sans" pitchFamily="34" charset="-122"/>
                <a:cs typeface="IBM Plex Sans" pitchFamily="34" charset="-120"/>
              </a:rPr>
              <a:t>Typed or chat-exported receipts in Arabic or English, for businesses without clean ledgers.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2"/>
        </a:solidFill>
      </p:bgPr>
    </p:bg>
    <p:spTree>
      <p:nvGrpSpPr>
        <p:cNvPr id="1" name=""/>
        <p:cNvGrpSpPr/>
        <p:nvPr/>
      </p:nvGrpSpPr>
      <p:grpSpPr>
        <a:xfrm>
          <a:off x="0" y="0"/>
          <a:ext cx="0" cy="0"/>
          <a:chOff x="0" y="0"/>
          <a:chExt cx="0" cy="0"/>
        </a:xfrm>
      </p:grpSpPr>
      <p:sp>
        <p:nvSpPr>
          <p:cNvPr id="2" name="Text 0"/>
          <p:cNvSpPr/>
          <p:nvPr>
            <p:ph type="title"/>
          </p:nvPr>
        </p:nvSpPr>
        <p:spPr>
          <a:xfrm>
            <a:off x="812800" y="1729870"/>
            <a:ext cx="5180076" cy="153403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B33"/>
                </a:solidFill>
                <a:latin typeface="Space Grotesk" pitchFamily="34" charset="0"/>
                <a:ea typeface="Space Grotesk" pitchFamily="34" charset="-122"/>
                <a:cs typeface="Space Grotesk" pitchFamily="34" charset="-120"/>
              </a:rPr>
              <a:t>First, it learns how each customer really pays</a:t>
            </a:r>
            <a:endParaRPr lang="en-US" sz="3600" dirty="0"/>
          </a:p>
        </p:txBody>
      </p:sp>
      <p:sp>
        <p:nvSpPr>
          <p:cNvPr id="3" name="Text 1"/>
          <p:cNvSpPr/>
          <p:nvPr/>
        </p:nvSpPr>
        <p:spPr>
          <a:xfrm>
            <a:off x="812800" y="3441700"/>
            <a:ext cx="5180076" cy="878753"/>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36A"/>
                </a:solidFill>
                <a:latin typeface="IBM Plex Sans" pitchFamily="34" charset="0"/>
                <a:ea typeface="IBM Plex Sans" pitchFamily="34" charset="-122"/>
                <a:cs typeface="IBM Plex Sans" pitchFamily="34" charset="-120"/>
              </a:rPr>
              <a:t>Learns from each buyer’s history with this business, sector, order size, terms and season. New buyers start from a sector prior.</a:t>
            </a:r>
            <a:endParaRPr lang="en-US" sz="1600" dirty="0"/>
          </a:p>
        </p:txBody>
      </p:sp>
      <p:sp>
        <p:nvSpPr>
          <p:cNvPr id="4" name="Text 2"/>
          <p:cNvSpPr/>
          <p:nvPr/>
        </p:nvSpPr>
        <p:spPr>
          <a:xfrm>
            <a:off x="812800" y="4498256"/>
            <a:ext cx="5180076" cy="45200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488"/>
                </a:solidFill>
                <a:latin typeface="IBM Plex Sans" pitchFamily="34" charset="0"/>
                <a:ea typeface="IBM Plex Sans" pitchFamily="34" charset="-122"/>
                <a:cs typeface="IBM Plex Sans" pitchFamily="34" charset="-120"/>
              </a:rPr>
              <a:t>Trained on simulated B2B payment behaviour; retrains on real ledgers with the same features.</a:t>
            </a:r>
            <a:endParaRPr lang="en-US" sz="1200" dirty="0"/>
          </a:p>
        </p:txBody>
      </p:sp>
      <p:sp>
        <p:nvSpPr>
          <p:cNvPr id="5" name="Shape 3"/>
          <p:cNvSpPr/>
          <p:nvPr/>
        </p:nvSpPr>
        <p:spPr>
          <a:xfrm>
            <a:off x="6350000" y="1408187"/>
            <a:ext cx="2421082" cy="1848066"/>
          </a:xfrm>
          <a:prstGeom prst="roundRect">
            <a:avLst>
              <a:gd name="adj" fmla="val 6872"/>
            </a:avLst>
          </a:prstGeom>
          <a:solidFill>
            <a:srgbClr val="0E1B33"/>
          </a:solidFill>
          <a:ln/>
        </p:spPr>
      </p:sp>
      <p:sp>
        <p:nvSpPr>
          <p:cNvPr id="6" name="Text 4"/>
          <p:cNvSpPr/>
          <p:nvPr/>
        </p:nvSpPr>
        <p:spPr>
          <a:xfrm>
            <a:off x="6604000" y="1662187"/>
            <a:ext cx="1970474" cy="807677"/>
          </a:xfrm>
          <a:prstGeom prst="rect">
            <a:avLst/>
          </a:prstGeom>
          <a:noFill/>
          <a:ln/>
        </p:spPr>
        <p:txBody>
          <a:bodyPr wrap="square" lIns="0" tIns="0" rIns="0" bIns="0" rtlCol="0" anchor="t">
            <a:normAutofit/>
          </a:bodyPr>
          <a:lstStyle/>
          <a:p>
            <a:pPr algn="l" indent="0" marL="0">
              <a:lnSpc>
                <a:spcPts val="6160"/>
              </a:lnSpc>
              <a:buNone/>
            </a:pPr>
            <a:r>
              <a:rPr lang="en-US" sz="4400" b="1" dirty="0">
                <a:solidFill>
                  <a:srgbClr val="7FA8F0"/>
                </a:solidFill>
                <a:latin typeface="Space Grotesk" pitchFamily="34" charset="0"/>
                <a:ea typeface="Space Grotesk" pitchFamily="34" charset="-122"/>
                <a:cs typeface="Space Grotesk" pitchFamily="34" charset="-120"/>
              </a:rPr>
              <a:t>6.5 d</a:t>
            </a:r>
            <a:endParaRPr lang="en-US" sz="4400" dirty="0"/>
          </a:p>
        </p:txBody>
      </p:sp>
      <p:sp>
        <p:nvSpPr>
          <p:cNvPr id="7" name="Text 5"/>
          <p:cNvSpPr/>
          <p:nvPr/>
        </p:nvSpPr>
        <p:spPr>
          <a:xfrm>
            <a:off x="6604000" y="2495262"/>
            <a:ext cx="1970474" cy="27427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6DA"/>
                </a:solidFill>
                <a:latin typeface="IBM Plex Sans" pitchFamily="34" charset="0"/>
                <a:ea typeface="IBM Plex Sans" pitchFamily="34" charset="-122"/>
                <a:cs typeface="IBM Plex Sans" pitchFamily="34" charset="-120"/>
              </a:rPr>
              <a:t>model error (MAE)</a:t>
            </a:r>
            <a:endParaRPr lang="en-US" sz="1400" dirty="0"/>
          </a:p>
        </p:txBody>
      </p:sp>
      <p:sp>
        <p:nvSpPr>
          <p:cNvPr id="8" name="Shape 6"/>
          <p:cNvSpPr/>
          <p:nvPr/>
        </p:nvSpPr>
        <p:spPr>
          <a:xfrm>
            <a:off x="8952057" y="1411362"/>
            <a:ext cx="2423968" cy="1841716"/>
          </a:xfrm>
          <a:prstGeom prst="roundRect">
            <a:avLst>
              <a:gd name="adj" fmla="val 6723"/>
            </a:avLst>
          </a:prstGeom>
          <a:solidFill>
            <a:srgbClr val="FFFFFF"/>
          </a:solidFill>
          <a:ln w="6350">
            <a:solidFill>
              <a:srgbClr val="DDE2DA"/>
            </a:solidFill>
            <a:prstDash val="solid"/>
          </a:ln>
        </p:spPr>
      </p:sp>
      <p:sp>
        <p:nvSpPr>
          <p:cNvPr id="9" name="Text 7"/>
          <p:cNvSpPr/>
          <p:nvPr/>
        </p:nvSpPr>
        <p:spPr>
          <a:xfrm>
            <a:off x="9207500" y="1666804"/>
            <a:ext cx="1970474" cy="807677"/>
          </a:xfrm>
          <a:prstGeom prst="rect">
            <a:avLst/>
          </a:prstGeom>
          <a:noFill/>
          <a:ln/>
        </p:spPr>
        <p:txBody>
          <a:bodyPr wrap="square" lIns="0" tIns="0" rIns="0" bIns="0" rtlCol="0" anchor="t">
            <a:normAutofit/>
          </a:bodyPr>
          <a:lstStyle/>
          <a:p>
            <a:pPr algn="l" indent="0" marL="0">
              <a:lnSpc>
                <a:spcPts val="6160"/>
              </a:lnSpc>
              <a:buNone/>
            </a:pPr>
            <a:r>
              <a:rPr lang="en-US" sz="4400" b="1" dirty="0">
                <a:solidFill>
                  <a:srgbClr val="6A7488"/>
                </a:solidFill>
                <a:latin typeface="Space Grotesk" pitchFamily="34" charset="0"/>
                <a:ea typeface="Space Grotesk" pitchFamily="34" charset="-122"/>
                <a:cs typeface="Space Grotesk" pitchFamily="34" charset="-120"/>
              </a:rPr>
              <a:t>7.7 d</a:t>
            </a:r>
            <a:endParaRPr lang="en-US" sz="4400" dirty="0"/>
          </a:p>
        </p:txBody>
      </p:sp>
      <p:sp>
        <p:nvSpPr>
          <p:cNvPr id="10" name="Text 8"/>
          <p:cNvSpPr/>
          <p:nvPr/>
        </p:nvSpPr>
        <p:spPr>
          <a:xfrm>
            <a:off x="9207500" y="2499882"/>
            <a:ext cx="1970474" cy="52315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36A"/>
                </a:solidFill>
                <a:latin typeface="IBM Plex Sans" pitchFamily="34" charset="0"/>
                <a:ea typeface="IBM Plex Sans" pitchFamily="34" charset="-122"/>
                <a:cs typeface="IBM Plex Sans" pitchFamily="34" charset="-120"/>
              </a:rPr>
              <a:t>“buyer average” baseline</a:t>
            </a:r>
            <a:endParaRPr lang="en-US" sz="1400" dirty="0"/>
          </a:p>
        </p:txBody>
      </p:sp>
      <p:sp>
        <p:nvSpPr>
          <p:cNvPr id="11" name="Shape 9"/>
          <p:cNvSpPr/>
          <p:nvPr/>
        </p:nvSpPr>
        <p:spPr>
          <a:xfrm>
            <a:off x="6353175" y="3437226"/>
            <a:ext cx="5022850" cy="1806142"/>
          </a:xfrm>
          <a:prstGeom prst="roundRect">
            <a:avLst>
              <a:gd name="adj" fmla="val 6856"/>
            </a:avLst>
          </a:prstGeom>
          <a:solidFill>
            <a:srgbClr val="FFFFFF"/>
          </a:solidFill>
          <a:ln w="6350">
            <a:solidFill>
              <a:srgbClr val="DDE2DA"/>
            </a:solidFill>
            <a:prstDash val="solid"/>
          </a:ln>
        </p:spPr>
      </p:sp>
      <p:sp>
        <p:nvSpPr>
          <p:cNvPr id="12" name="Text 10"/>
          <p:cNvSpPr/>
          <p:nvPr/>
        </p:nvSpPr>
        <p:spPr>
          <a:xfrm>
            <a:off x="6608618" y="3692671"/>
            <a:ext cx="4647323" cy="269226"/>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B33"/>
                </a:solidFill>
                <a:latin typeface="Space Grotesk" pitchFamily="34" charset="0"/>
                <a:ea typeface="Space Grotesk" pitchFamily="34" charset="-122"/>
                <a:cs typeface="Space Grotesk" pitchFamily="34" charset="-120"/>
              </a:rPr>
              <a:t>What drives the prediction</a:t>
            </a:r>
            <a:endParaRPr lang="en-US" sz="1600" dirty="0"/>
          </a:p>
        </p:txBody>
      </p:sp>
      <p:sp>
        <p:nvSpPr>
          <p:cNvPr id="13" name="Text 11"/>
          <p:cNvSpPr/>
          <p:nvPr/>
        </p:nvSpPr>
        <p:spPr>
          <a:xfrm>
            <a:off x="6608618" y="4038095"/>
            <a:ext cx="1831340" cy="27427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E1B33"/>
                </a:solidFill>
                <a:latin typeface="IBM Plex Sans" pitchFamily="34" charset="0"/>
                <a:ea typeface="IBM Plex Sans" pitchFamily="34" charset="-122"/>
                <a:cs typeface="IBM Plex Sans" pitchFamily="34" charset="-120"/>
              </a:rPr>
              <a:t>Buyer history</a:t>
            </a:r>
            <a:endParaRPr lang="en-US" sz="1400" dirty="0"/>
          </a:p>
        </p:txBody>
      </p:sp>
      <p:sp>
        <p:nvSpPr>
          <p:cNvPr id="14" name="Shape 12"/>
          <p:cNvSpPr/>
          <p:nvPr/>
        </p:nvSpPr>
        <p:spPr>
          <a:xfrm>
            <a:off x="8513618" y="4073599"/>
            <a:ext cx="2032000" cy="177800"/>
          </a:xfrm>
          <a:prstGeom prst="roundRect">
            <a:avLst>
              <a:gd name="adj" fmla="val 21429"/>
            </a:avLst>
          </a:prstGeom>
          <a:solidFill>
            <a:srgbClr val="2F6FDF"/>
          </a:solidFill>
          <a:ln/>
        </p:spPr>
      </p:sp>
      <p:sp>
        <p:nvSpPr>
          <p:cNvPr id="15" name="Text 13"/>
          <p:cNvSpPr/>
          <p:nvPr/>
        </p:nvSpPr>
        <p:spPr>
          <a:xfrm>
            <a:off x="10672618" y="4038095"/>
            <a:ext cx="453823" cy="27427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36A"/>
                </a:solidFill>
                <a:latin typeface="IBM Plex Sans" pitchFamily="34" charset="0"/>
                <a:ea typeface="IBM Plex Sans" pitchFamily="34" charset="-122"/>
                <a:cs typeface="IBM Plex Sans" pitchFamily="34" charset="-120"/>
              </a:rPr>
              <a:t>51%</a:t>
            </a:r>
            <a:endParaRPr lang="en-US" sz="1400" dirty="0"/>
          </a:p>
        </p:txBody>
      </p:sp>
      <p:sp>
        <p:nvSpPr>
          <p:cNvPr id="16" name="Text 14"/>
          <p:cNvSpPr/>
          <p:nvPr/>
        </p:nvSpPr>
        <p:spPr>
          <a:xfrm>
            <a:off x="6608618" y="4388572"/>
            <a:ext cx="1831340" cy="27427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E1B33"/>
                </a:solidFill>
                <a:latin typeface="IBM Plex Sans" pitchFamily="34" charset="0"/>
                <a:ea typeface="IBM Plex Sans" pitchFamily="34" charset="-122"/>
                <a:cs typeface="IBM Plex Sans" pitchFamily="34" charset="-120"/>
              </a:rPr>
              <a:t>Buyer sector</a:t>
            </a:r>
            <a:endParaRPr lang="en-US" sz="1400" dirty="0"/>
          </a:p>
        </p:txBody>
      </p:sp>
      <p:sp>
        <p:nvSpPr>
          <p:cNvPr id="17" name="Shape 15"/>
          <p:cNvSpPr/>
          <p:nvPr/>
        </p:nvSpPr>
        <p:spPr>
          <a:xfrm>
            <a:off x="8513618" y="4424074"/>
            <a:ext cx="1238250" cy="177800"/>
          </a:xfrm>
          <a:prstGeom prst="roundRect">
            <a:avLst>
              <a:gd name="adj" fmla="val 21429"/>
            </a:avLst>
          </a:prstGeom>
          <a:solidFill>
            <a:srgbClr val="2F6FDF"/>
          </a:solidFill>
          <a:ln/>
        </p:spPr>
      </p:sp>
      <p:sp>
        <p:nvSpPr>
          <p:cNvPr id="18" name="Text 16"/>
          <p:cNvSpPr/>
          <p:nvPr/>
        </p:nvSpPr>
        <p:spPr>
          <a:xfrm>
            <a:off x="9878868" y="4388572"/>
            <a:ext cx="453823" cy="27427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36A"/>
                </a:solidFill>
                <a:latin typeface="IBM Plex Sans" pitchFamily="34" charset="0"/>
                <a:ea typeface="IBM Plex Sans" pitchFamily="34" charset="-122"/>
                <a:cs typeface="IBM Plex Sans" pitchFamily="34" charset="-120"/>
              </a:rPr>
              <a:t>31%</a:t>
            </a:r>
            <a:endParaRPr lang="en-US" sz="1400" dirty="0"/>
          </a:p>
        </p:txBody>
      </p:sp>
      <p:sp>
        <p:nvSpPr>
          <p:cNvPr id="19" name="Text 17"/>
          <p:cNvSpPr/>
          <p:nvPr/>
        </p:nvSpPr>
        <p:spPr>
          <a:xfrm>
            <a:off x="6608618" y="4739050"/>
            <a:ext cx="1831340" cy="27427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E1B33"/>
                </a:solidFill>
                <a:latin typeface="IBM Plex Sans" pitchFamily="34" charset="0"/>
                <a:ea typeface="IBM Plex Sans" pitchFamily="34" charset="-122"/>
                <a:cs typeface="IBM Plex Sans" pitchFamily="34" charset="-120"/>
              </a:rPr>
              <a:t>Order size vs usual</a:t>
            </a:r>
            <a:endParaRPr lang="en-US" sz="1400" dirty="0"/>
          </a:p>
        </p:txBody>
      </p:sp>
      <p:sp>
        <p:nvSpPr>
          <p:cNvPr id="20" name="Shape 18"/>
          <p:cNvSpPr/>
          <p:nvPr/>
        </p:nvSpPr>
        <p:spPr>
          <a:xfrm>
            <a:off x="8513618" y="4774552"/>
            <a:ext cx="196850" cy="177800"/>
          </a:xfrm>
          <a:prstGeom prst="roundRect">
            <a:avLst>
              <a:gd name="adj" fmla="val 21429"/>
            </a:avLst>
          </a:prstGeom>
          <a:solidFill>
            <a:srgbClr val="2F6FDF"/>
          </a:solidFill>
          <a:ln/>
        </p:spPr>
      </p:sp>
      <p:sp>
        <p:nvSpPr>
          <p:cNvPr id="21" name="Text 19"/>
          <p:cNvSpPr/>
          <p:nvPr/>
        </p:nvSpPr>
        <p:spPr>
          <a:xfrm>
            <a:off x="8837468" y="4739050"/>
            <a:ext cx="325842" cy="27427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36A"/>
                </a:solidFill>
                <a:latin typeface="IBM Plex Sans" pitchFamily="34" charset="0"/>
                <a:ea typeface="IBM Plex Sans" pitchFamily="34" charset="-122"/>
                <a:cs typeface="IBM Plex Sans" pitchFamily="34" charset="-120"/>
              </a:rPr>
              <a:t>5%</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2"/>
        </a:solidFill>
      </p:bgPr>
    </p:bg>
    <p:spTree>
      <p:nvGrpSpPr>
        <p:cNvPr id="1" name=""/>
        <p:cNvGrpSpPr/>
        <p:nvPr/>
      </p:nvGrpSpPr>
      <p:grpSpPr>
        <a:xfrm>
          <a:off x="0" y="0"/>
          <a:ext cx="0" cy="0"/>
          <a:chOff x="0" y="0"/>
          <a:chExt cx="0" cy="0"/>
        </a:xfrm>
      </p:grpSpPr>
      <p:sp>
        <p:nvSpPr>
          <p:cNvPr id="2" name="Text 0"/>
          <p:cNvSpPr/>
          <p:nvPr>
            <p:ph type="title"/>
          </p:nvPr>
        </p:nvSpPr>
        <p:spPr>
          <a:xfrm>
            <a:off x="812800" y="1577473"/>
            <a:ext cx="3662680" cy="807605"/>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E1B33"/>
                </a:solidFill>
                <a:latin typeface="Space Grotesk" pitchFamily="34" charset="0"/>
                <a:ea typeface="Space Grotesk" pitchFamily="34" charset="-122"/>
                <a:cs typeface="Space Grotesk" pitchFamily="34" charset="-120"/>
              </a:rPr>
              <a:t>Then it explains her credit in plain words</a:t>
            </a:r>
            <a:endParaRPr lang="en-US" sz="2800" dirty="0"/>
          </a:p>
        </p:txBody>
      </p:sp>
      <p:sp>
        <p:nvSpPr>
          <p:cNvPr id="3" name="Shape 1"/>
          <p:cNvSpPr/>
          <p:nvPr/>
        </p:nvSpPr>
        <p:spPr>
          <a:xfrm>
            <a:off x="812800" y="2537476"/>
            <a:ext cx="3556000" cy="1864302"/>
          </a:xfrm>
          <a:prstGeom prst="roundRect">
            <a:avLst>
              <a:gd name="adj" fmla="val 6812"/>
            </a:avLst>
          </a:prstGeom>
          <a:solidFill>
            <a:srgbClr val="0E1B33"/>
          </a:solidFill>
          <a:ln/>
        </p:spPr>
      </p:sp>
      <p:sp>
        <p:nvSpPr>
          <p:cNvPr id="4" name="Text 2"/>
          <p:cNvSpPr/>
          <p:nvPr/>
        </p:nvSpPr>
        <p:spPr>
          <a:xfrm>
            <a:off x="1066800" y="2791476"/>
            <a:ext cx="3139440"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5F6F2"/>
                </a:solidFill>
                <a:latin typeface="Space Grotesk" pitchFamily="34" charset="0"/>
                <a:ea typeface="Space Grotesk" pitchFamily="34" charset="-122"/>
                <a:cs typeface="Space Grotesk" pitchFamily="34" charset="-120"/>
              </a:rPr>
              <a:t>57.9</a:t>
            </a:r>
            <a:endParaRPr lang="en-US" sz="6000" dirty="0"/>
          </a:p>
        </p:txBody>
      </p:sp>
      <p:sp>
        <p:nvSpPr>
          <p:cNvPr id="5" name="Text 3"/>
          <p:cNvSpPr/>
          <p:nvPr/>
        </p:nvSpPr>
        <p:spPr>
          <a:xfrm>
            <a:off x="1066800" y="3578876"/>
            <a:ext cx="3139440" cy="59430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C6DA"/>
                </a:solidFill>
                <a:latin typeface="IBM Plex Sans" pitchFamily="34" charset="0"/>
                <a:ea typeface="IBM Plex Sans" pitchFamily="34" charset="-122"/>
                <a:cs typeface="IBM Plex Sans" pitchFamily="34" charset="-120"/>
              </a:rPr>
              <a:t>out of 100 · grade C · advisor review required below 60</a:t>
            </a:r>
            <a:endParaRPr lang="en-US" sz="1600" dirty="0"/>
          </a:p>
        </p:txBody>
      </p:sp>
      <p:sp>
        <p:nvSpPr>
          <p:cNvPr id="6" name="Text 4"/>
          <p:cNvSpPr/>
          <p:nvPr/>
        </p:nvSpPr>
        <p:spPr>
          <a:xfrm>
            <a:off x="812800" y="4579578"/>
            <a:ext cx="3662680" cy="52315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36A"/>
                </a:solidFill>
                <a:latin typeface="IBM Plex Sans" pitchFamily="34" charset="0"/>
                <a:ea typeface="IBM Plex Sans" pitchFamily="34" charset="-122"/>
                <a:cs typeface="IBM Plex Sans" pitchFamily="34" charset="-120"/>
              </a:rPr>
              <a:t>“Your balance covers 8 days of spending.” Every factor comes with a sentence like that.</a:t>
            </a:r>
            <a:endParaRPr lang="en-US" sz="1400" dirty="0"/>
          </a:p>
        </p:txBody>
      </p:sp>
      <p:sp>
        <p:nvSpPr>
          <p:cNvPr id="7" name="Text 5"/>
          <p:cNvSpPr/>
          <p:nvPr/>
        </p:nvSpPr>
        <p:spPr>
          <a:xfrm>
            <a:off x="4876800" y="1860696"/>
            <a:ext cx="2485390" cy="27427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E1B33"/>
                </a:solidFill>
                <a:latin typeface="IBM Plex Sans" pitchFamily="34" charset="0"/>
                <a:ea typeface="IBM Plex Sans" pitchFamily="34" charset="-122"/>
                <a:cs typeface="IBM Plex Sans" pitchFamily="34" charset="-120"/>
              </a:rPr>
              <a:t>Obligations paid on time</a:t>
            </a:r>
            <a:endParaRPr lang="en-US" sz="1400" dirty="0"/>
          </a:p>
        </p:txBody>
      </p:sp>
      <p:sp>
        <p:nvSpPr>
          <p:cNvPr id="8" name="Shape 6"/>
          <p:cNvSpPr/>
          <p:nvPr/>
        </p:nvSpPr>
        <p:spPr>
          <a:xfrm>
            <a:off x="7416800" y="1883497"/>
            <a:ext cx="3302000" cy="203200"/>
          </a:xfrm>
          <a:prstGeom prst="roundRect">
            <a:avLst>
              <a:gd name="adj" fmla="val 18750"/>
            </a:avLst>
          </a:prstGeom>
          <a:solidFill>
            <a:srgbClr val="2F6FDF"/>
          </a:solidFill>
          <a:ln/>
        </p:spPr>
      </p:sp>
      <p:sp>
        <p:nvSpPr>
          <p:cNvPr id="9" name="Text 7"/>
          <p:cNvSpPr/>
          <p:nvPr/>
        </p:nvSpPr>
        <p:spPr>
          <a:xfrm>
            <a:off x="10845800" y="1860696"/>
            <a:ext cx="384117" cy="27427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1B33"/>
                </a:solidFill>
                <a:latin typeface="IBM Plex Sans" pitchFamily="34" charset="0"/>
                <a:ea typeface="IBM Plex Sans" pitchFamily="34" charset="-122"/>
                <a:cs typeface="IBM Plex Sans" pitchFamily="34" charset="-120"/>
              </a:rPr>
              <a:t>100</a:t>
            </a:r>
            <a:endParaRPr lang="en-US" sz="1400" dirty="0"/>
          </a:p>
        </p:txBody>
      </p:sp>
      <p:sp>
        <p:nvSpPr>
          <p:cNvPr id="10" name="Text 8"/>
          <p:cNvSpPr/>
          <p:nvPr/>
        </p:nvSpPr>
        <p:spPr>
          <a:xfrm>
            <a:off x="4876800" y="2249274"/>
            <a:ext cx="2485390" cy="27427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E1B33"/>
                </a:solidFill>
                <a:latin typeface="IBM Plex Sans" pitchFamily="34" charset="0"/>
                <a:ea typeface="IBM Plex Sans" pitchFamily="34" charset="-122"/>
                <a:cs typeface="IBM Plex Sans" pitchFamily="34" charset="-120"/>
              </a:rPr>
              <a:t>Buyer diversity</a:t>
            </a:r>
            <a:endParaRPr lang="en-US" sz="1400" dirty="0"/>
          </a:p>
        </p:txBody>
      </p:sp>
      <p:sp>
        <p:nvSpPr>
          <p:cNvPr id="11" name="Shape 9"/>
          <p:cNvSpPr/>
          <p:nvPr/>
        </p:nvSpPr>
        <p:spPr>
          <a:xfrm>
            <a:off x="7416800" y="2272075"/>
            <a:ext cx="2774950" cy="203200"/>
          </a:xfrm>
          <a:prstGeom prst="roundRect">
            <a:avLst>
              <a:gd name="adj" fmla="val 18750"/>
            </a:avLst>
          </a:prstGeom>
          <a:solidFill>
            <a:srgbClr val="2F6FDF"/>
          </a:solidFill>
          <a:ln/>
        </p:spPr>
      </p:sp>
      <p:sp>
        <p:nvSpPr>
          <p:cNvPr id="12" name="Text 10"/>
          <p:cNvSpPr/>
          <p:nvPr/>
        </p:nvSpPr>
        <p:spPr>
          <a:xfrm>
            <a:off x="10318750" y="2249274"/>
            <a:ext cx="264174" cy="27427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1B33"/>
                </a:solidFill>
                <a:latin typeface="IBM Plex Sans" pitchFamily="34" charset="0"/>
                <a:ea typeface="IBM Plex Sans" pitchFamily="34" charset="-122"/>
                <a:cs typeface="IBM Plex Sans" pitchFamily="34" charset="-120"/>
              </a:rPr>
              <a:t>84</a:t>
            </a:r>
            <a:endParaRPr lang="en-US" sz="1400" dirty="0"/>
          </a:p>
        </p:txBody>
      </p:sp>
      <p:sp>
        <p:nvSpPr>
          <p:cNvPr id="13" name="Text 11"/>
          <p:cNvSpPr/>
          <p:nvPr/>
        </p:nvSpPr>
        <p:spPr>
          <a:xfrm>
            <a:off x="4876800" y="2637848"/>
            <a:ext cx="2485390" cy="27427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E1B33"/>
                </a:solidFill>
                <a:latin typeface="IBM Plex Sans" pitchFamily="34" charset="0"/>
                <a:ea typeface="IBM Plex Sans" pitchFamily="34" charset="-122"/>
                <a:cs typeface="IBM Plex Sans" pitchFamily="34" charset="-120"/>
              </a:rPr>
              <a:t>Inflow stability</a:t>
            </a:r>
            <a:endParaRPr lang="en-US" sz="1400" dirty="0"/>
          </a:p>
        </p:txBody>
      </p:sp>
      <p:sp>
        <p:nvSpPr>
          <p:cNvPr id="14" name="Shape 12"/>
          <p:cNvSpPr/>
          <p:nvPr/>
        </p:nvSpPr>
        <p:spPr>
          <a:xfrm>
            <a:off x="7416800" y="2660650"/>
            <a:ext cx="2038350" cy="203200"/>
          </a:xfrm>
          <a:prstGeom prst="roundRect">
            <a:avLst>
              <a:gd name="adj" fmla="val 18750"/>
            </a:avLst>
          </a:prstGeom>
          <a:solidFill>
            <a:srgbClr val="2F6FDF"/>
          </a:solidFill>
          <a:ln/>
        </p:spPr>
      </p:sp>
      <p:sp>
        <p:nvSpPr>
          <p:cNvPr id="15" name="Text 13"/>
          <p:cNvSpPr/>
          <p:nvPr/>
        </p:nvSpPr>
        <p:spPr>
          <a:xfrm>
            <a:off x="9582150" y="2637848"/>
            <a:ext cx="264174" cy="27427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1B33"/>
                </a:solidFill>
                <a:latin typeface="IBM Plex Sans" pitchFamily="34" charset="0"/>
                <a:ea typeface="IBM Plex Sans" pitchFamily="34" charset="-122"/>
                <a:cs typeface="IBM Plex Sans" pitchFamily="34" charset="-120"/>
              </a:rPr>
              <a:t>62</a:t>
            </a:r>
            <a:endParaRPr lang="en-US" sz="1400" dirty="0"/>
          </a:p>
        </p:txBody>
      </p:sp>
      <p:sp>
        <p:nvSpPr>
          <p:cNvPr id="16" name="Text 14"/>
          <p:cNvSpPr/>
          <p:nvPr/>
        </p:nvSpPr>
        <p:spPr>
          <a:xfrm>
            <a:off x="4876800" y="3026426"/>
            <a:ext cx="2485390" cy="27427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E1B33"/>
                </a:solidFill>
                <a:latin typeface="IBM Plex Sans" pitchFamily="34" charset="0"/>
                <a:ea typeface="IBM Plex Sans" pitchFamily="34" charset="-122"/>
                <a:cs typeface="IBM Plex Sans" pitchFamily="34" charset="-120"/>
              </a:rPr>
              <a:t>Receivables quality (AI)</a:t>
            </a:r>
            <a:endParaRPr lang="en-US" sz="1400" dirty="0"/>
          </a:p>
        </p:txBody>
      </p:sp>
      <p:sp>
        <p:nvSpPr>
          <p:cNvPr id="17" name="Shape 15"/>
          <p:cNvSpPr/>
          <p:nvPr/>
        </p:nvSpPr>
        <p:spPr>
          <a:xfrm>
            <a:off x="7416800" y="3049228"/>
            <a:ext cx="1955800" cy="203200"/>
          </a:xfrm>
          <a:prstGeom prst="roundRect">
            <a:avLst>
              <a:gd name="adj" fmla="val 18750"/>
            </a:avLst>
          </a:prstGeom>
          <a:solidFill>
            <a:srgbClr val="2F6FDF"/>
          </a:solidFill>
          <a:ln/>
        </p:spPr>
      </p:sp>
      <p:sp>
        <p:nvSpPr>
          <p:cNvPr id="18" name="Text 16"/>
          <p:cNvSpPr/>
          <p:nvPr/>
        </p:nvSpPr>
        <p:spPr>
          <a:xfrm>
            <a:off x="9499600" y="3026426"/>
            <a:ext cx="264174" cy="27427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1B33"/>
                </a:solidFill>
                <a:latin typeface="IBM Plex Sans" pitchFamily="34" charset="0"/>
                <a:ea typeface="IBM Plex Sans" pitchFamily="34" charset="-122"/>
                <a:cs typeface="IBM Plex Sans" pitchFamily="34" charset="-120"/>
              </a:rPr>
              <a:t>59</a:t>
            </a:r>
            <a:endParaRPr lang="en-US" sz="1400" dirty="0"/>
          </a:p>
        </p:txBody>
      </p:sp>
      <p:sp>
        <p:nvSpPr>
          <p:cNvPr id="19" name="Text 17"/>
          <p:cNvSpPr/>
          <p:nvPr/>
        </p:nvSpPr>
        <p:spPr>
          <a:xfrm>
            <a:off x="4876800" y="3415004"/>
            <a:ext cx="2485390" cy="27427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E1B33"/>
                </a:solidFill>
                <a:latin typeface="IBM Plex Sans" pitchFamily="34" charset="0"/>
                <a:ea typeface="IBM Plex Sans" pitchFamily="34" charset="-122"/>
                <a:cs typeface="IBM Plex Sans" pitchFamily="34" charset="-120"/>
              </a:rPr>
              <a:t>Net cash margin</a:t>
            </a:r>
            <a:endParaRPr lang="en-US" sz="1400" dirty="0"/>
          </a:p>
        </p:txBody>
      </p:sp>
      <p:sp>
        <p:nvSpPr>
          <p:cNvPr id="20" name="Shape 18"/>
          <p:cNvSpPr/>
          <p:nvPr/>
        </p:nvSpPr>
        <p:spPr>
          <a:xfrm>
            <a:off x="7416800" y="3437806"/>
            <a:ext cx="1358900" cy="203200"/>
          </a:xfrm>
          <a:prstGeom prst="roundRect">
            <a:avLst>
              <a:gd name="adj" fmla="val 18750"/>
            </a:avLst>
          </a:prstGeom>
          <a:solidFill>
            <a:srgbClr val="E8893A"/>
          </a:solidFill>
          <a:ln/>
        </p:spPr>
      </p:sp>
      <p:sp>
        <p:nvSpPr>
          <p:cNvPr id="21" name="Text 19"/>
          <p:cNvSpPr/>
          <p:nvPr/>
        </p:nvSpPr>
        <p:spPr>
          <a:xfrm>
            <a:off x="8902700" y="3415004"/>
            <a:ext cx="962371" cy="27427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1B33"/>
                </a:solidFill>
                <a:latin typeface="IBM Plex Sans" pitchFamily="34" charset="0"/>
                <a:ea typeface="IBM Plex Sans" pitchFamily="34" charset="-122"/>
                <a:cs typeface="IBM Plex Sans" pitchFamily="34" charset="-120"/>
              </a:rPr>
              <a:t>41 · weak</a:t>
            </a:r>
            <a:endParaRPr lang="en-US" sz="1400" dirty="0"/>
          </a:p>
        </p:txBody>
      </p:sp>
      <p:sp>
        <p:nvSpPr>
          <p:cNvPr id="22" name="Text 20"/>
          <p:cNvSpPr/>
          <p:nvPr/>
        </p:nvSpPr>
        <p:spPr>
          <a:xfrm>
            <a:off x="4876800" y="3803579"/>
            <a:ext cx="2485390" cy="27427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E1B33"/>
                </a:solidFill>
                <a:latin typeface="IBM Plex Sans" pitchFamily="34" charset="0"/>
                <a:ea typeface="IBM Plex Sans" pitchFamily="34" charset="-122"/>
                <a:cs typeface="IBM Plex Sans" pitchFamily="34" charset="-120"/>
              </a:rPr>
              <a:t>Digital (InstaPay) share</a:t>
            </a:r>
            <a:endParaRPr lang="en-US" sz="1400" dirty="0"/>
          </a:p>
        </p:txBody>
      </p:sp>
      <p:sp>
        <p:nvSpPr>
          <p:cNvPr id="23" name="Shape 21"/>
          <p:cNvSpPr/>
          <p:nvPr/>
        </p:nvSpPr>
        <p:spPr>
          <a:xfrm>
            <a:off x="7416800" y="3826380"/>
            <a:ext cx="1225550" cy="203200"/>
          </a:xfrm>
          <a:prstGeom prst="roundRect">
            <a:avLst>
              <a:gd name="adj" fmla="val 18750"/>
            </a:avLst>
          </a:prstGeom>
          <a:solidFill>
            <a:srgbClr val="E8893A"/>
          </a:solidFill>
          <a:ln/>
        </p:spPr>
      </p:sp>
      <p:sp>
        <p:nvSpPr>
          <p:cNvPr id="24" name="Text 22"/>
          <p:cNvSpPr/>
          <p:nvPr/>
        </p:nvSpPr>
        <p:spPr>
          <a:xfrm>
            <a:off x="8769350" y="3803579"/>
            <a:ext cx="962371" cy="27427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1B33"/>
                </a:solidFill>
                <a:latin typeface="IBM Plex Sans" pitchFamily="34" charset="0"/>
                <a:ea typeface="IBM Plex Sans" pitchFamily="34" charset="-122"/>
                <a:cs typeface="IBM Plex Sans" pitchFamily="34" charset="-120"/>
              </a:rPr>
              <a:t>37 · weak</a:t>
            </a:r>
            <a:endParaRPr lang="en-US" sz="1400" dirty="0"/>
          </a:p>
        </p:txBody>
      </p:sp>
      <p:sp>
        <p:nvSpPr>
          <p:cNvPr id="25" name="Text 23"/>
          <p:cNvSpPr/>
          <p:nvPr/>
        </p:nvSpPr>
        <p:spPr>
          <a:xfrm>
            <a:off x="4876800" y="4192157"/>
            <a:ext cx="2485390" cy="27427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E1B33"/>
                </a:solidFill>
                <a:latin typeface="IBM Plex Sans" pitchFamily="34" charset="0"/>
                <a:ea typeface="IBM Plex Sans" pitchFamily="34" charset="-122"/>
                <a:cs typeface="IBM Plex Sans" pitchFamily="34" charset="-120"/>
              </a:rPr>
              <a:t>Cash buffer</a:t>
            </a:r>
            <a:endParaRPr lang="en-US" sz="1400" dirty="0"/>
          </a:p>
        </p:txBody>
      </p:sp>
      <p:sp>
        <p:nvSpPr>
          <p:cNvPr id="26" name="Shape 24"/>
          <p:cNvSpPr/>
          <p:nvPr/>
        </p:nvSpPr>
        <p:spPr>
          <a:xfrm>
            <a:off x="7416800" y="4214958"/>
            <a:ext cx="558800" cy="203200"/>
          </a:xfrm>
          <a:prstGeom prst="roundRect">
            <a:avLst>
              <a:gd name="adj" fmla="val 18750"/>
            </a:avLst>
          </a:prstGeom>
          <a:solidFill>
            <a:srgbClr val="E8893A"/>
          </a:solidFill>
          <a:ln/>
        </p:spPr>
      </p:sp>
      <p:sp>
        <p:nvSpPr>
          <p:cNvPr id="27" name="Text 25"/>
          <p:cNvSpPr/>
          <p:nvPr/>
        </p:nvSpPr>
        <p:spPr>
          <a:xfrm>
            <a:off x="8102600" y="4192157"/>
            <a:ext cx="1260937" cy="27427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1B33"/>
                </a:solidFill>
                <a:latin typeface="IBM Plex Sans" pitchFamily="34" charset="0"/>
                <a:ea typeface="IBM Plex Sans" pitchFamily="34" charset="-122"/>
                <a:cs typeface="IBM Plex Sans" pitchFamily="34" charset="-120"/>
              </a:rPr>
              <a:t>17 · weakest</a:t>
            </a:r>
            <a:endParaRPr lang="en-US" sz="1400" dirty="0"/>
          </a:p>
        </p:txBody>
      </p:sp>
      <p:sp>
        <p:nvSpPr>
          <p:cNvPr id="28" name="Text 26"/>
          <p:cNvSpPr/>
          <p:nvPr/>
        </p:nvSpPr>
        <p:spPr>
          <a:xfrm>
            <a:off x="4876800" y="4580731"/>
            <a:ext cx="6697472" cy="2387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488"/>
                </a:solidFill>
                <a:latin typeface="IBM Plex Sans" pitchFamily="34" charset="0"/>
                <a:ea typeface="IBM Plex Sans" pitchFamily="34" charset="-122"/>
                <a:cs typeface="IBM Plex Sans" pitchFamily="34" charset="-120"/>
              </a:rPr>
              <a:t>Sub-scores 0–100. Receivables quality uses the XGBoost-predicted pay dates.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7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B33"/>
                </a:solidFill>
                <a:latin typeface="Space Grotesk" pitchFamily="34" charset="0"/>
                <a:ea typeface="Space Grotesk" pitchFamily="34" charset="-122"/>
                <a:cs typeface="Space Grotesk" pitchFamily="34" charset="-120"/>
              </a:rPr>
              <a:t>It sees the crunch before she feels it</a:t>
            </a:r>
            <a:endParaRPr lang="en-US" sz="3600" dirty="0"/>
          </a:p>
        </p:txBody>
      </p:sp>
      <p:sp>
        <p:nvSpPr>
          <p:cNvPr id="3" name="Shape 1"/>
          <p:cNvSpPr/>
          <p:nvPr/>
        </p:nvSpPr>
        <p:spPr>
          <a:xfrm>
            <a:off x="815975" y="1572853"/>
            <a:ext cx="6343650" cy="3706091"/>
          </a:xfrm>
          <a:prstGeom prst="roundRect">
            <a:avLst>
              <a:gd name="adj" fmla="val 3341"/>
            </a:avLst>
          </a:prstGeom>
          <a:solidFill>
            <a:srgbClr val="FFFFFF"/>
          </a:solidFill>
          <a:ln w="6350">
            <a:solidFill>
              <a:srgbClr val="DDE2DA"/>
            </a:solidFill>
            <a:prstDash val="solid"/>
          </a:ln>
        </p:spPr>
      </p:sp>
      <p:pic>
        <p:nvPicPr>
          <p:cNvPr id="4" name="Image 0" descr="Weekly closing balance over 13 weeks: base case dips below zero in weeks 1 and 7 then recovers to about EGP 812k; stress case stays negative, lowest about minus EGP 770k">    </p:cNvPr>
          <p:cNvPicPr>
            <a:picLocks noChangeAspect="1"/>
          </p:cNvPicPr>
          <p:nvPr/>
        </p:nvPicPr>
        <p:blipFill>
          <a:blip r:embed="rId1"/>
          <a:srcRect l="0" r="0" t="0" b="0"/>
          <a:stretch/>
        </p:blipFill>
        <p:spPr>
          <a:xfrm>
            <a:off x="944418" y="1701298"/>
            <a:ext cx="6096000" cy="2921000"/>
          </a:xfrm>
          <a:prstGeom prst="rect">
            <a:avLst/>
          </a:prstGeom>
        </p:spPr>
      </p:pic>
      <p:sp>
        <p:nvSpPr>
          <p:cNvPr id="5" name="Text 2"/>
          <p:cNvSpPr/>
          <p:nvPr/>
        </p:nvSpPr>
        <p:spPr>
          <a:xfrm>
            <a:off x="944418" y="4723898"/>
            <a:ext cx="6269367" cy="45200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FDF"/>
                </a:solidFill>
                <a:latin typeface="IBM Plex Sans" pitchFamily="34" charset="0"/>
                <a:ea typeface="IBM Plex Sans" pitchFamily="34" charset="-122"/>
                <a:cs typeface="IBM Plex Sans" pitchFamily="34" charset="-120"/>
              </a:rPr>
              <a:t>Blue</a:t>
            </a:r>
            <a:r>
              <a:rPr lang="en-US" sz="1200" dirty="0">
                <a:solidFill>
                  <a:srgbClr val="46536A"/>
                </a:solidFill>
                <a:latin typeface="IBM Plex Sans" pitchFamily="34" charset="0"/>
                <a:ea typeface="IBM Plex Sans" pitchFamily="34" charset="-122"/>
                <a:cs typeface="IBM Plex Sans" pitchFamily="34" charset="-120"/>
              </a:rPr>
              <a:t>: base case · </a:t>
            </a:r>
            <a:r>
              <a:rPr lang="en-US" sz="1200" b="1" dirty="0">
                <a:solidFill>
                  <a:srgbClr val="C4651C"/>
                </a:solidFill>
                <a:latin typeface="IBM Plex Sans" pitchFamily="34" charset="0"/>
                <a:ea typeface="IBM Plex Sans" pitchFamily="34" charset="-122"/>
                <a:cs typeface="IBM Plex Sans" pitchFamily="34" charset="-120"/>
              </a:rPr>
              <a:t>Orange</a:t>
            </a:r>
            <a:r>
              <a:rPr lang="en-US" sz="1200" dirty="0">
                <a:solidFill>
                  <a:srgbClr val="46536A"/>
                </a:solidFill>
                <a:latin typeface="IBM Plex Sans" pitchFamily="34" charset="0"/>
                <a:ea typeface="IBM Plex Sans" pitchFamily="34" charset="-122"/>
                <a:cs typeface="IBM Plex Sans" pitchFamily="34" charset="-120"/>
              </a:rPr>
              <a:t>: stress (+21 days late, 85% collected) · dashed: zero · dotted: 7-day buffer (EGP 311k)</a:t>
            </a:r>
            <a:endParaRPr lang="en-US" sz="1200" dirty="0"/>
          </a:p>
        </p:txBody>
      </p:sp>
      <p:sp>
        <p:nvSpPr>
          <p:cNvPr id="6" name="Shape 3"/>
          <p:cNvSpPr/>
          <p:nvPr/>
        </p:nvSpPr>
        <p:spPr>
          <a:xfrm>
            <a:off x="7518400" y="1569678"/>
            <a:ext cx="3860800" cy="845127"/>
          </a:xfrm>
          <a:prstGeom prst="roundRect">
            <a:avLst>
              <a:gd name="adj" fmla="val 9016"/>
            </a:avLst>
          </a:prstGeom>
          <a:solidFill>
            <a:srgbClr val="FBE9DB"/>
          </a:solidFill>
          <a:ln/>
        </p:spPr>
      </p:sp>
      <p:sp>
        <p:nvSpPr>
          <p:cNvPr id="7" name="Shape 4"/>
          <p:cNvSpPr/>
          <p:nvPr/>
        </p:nvSpPr>
        <p:spPr>
          <a:xfrm>
            <a:off x="7518400" y="1569678"/>
            <a:ext cx="3860800" cy="845127"/>
          </a:xfrm>
          <a:custGeom>
            <a:avLst/>
            <a:gdLst/>
            <a:ahLst/>
            <a:cxnLst/>
            <a:rect l="l" t="t" r="r" b="b"/>
            <a:pathLst>
              <a:path w="3860800" h="845127">
                <a:moveTo>
                  <a:pt x="76200" y="845127"/>
                </a:moveTo>
                <a:lnTo>
                  <a:pt x="76200" y="845127"/>
                </a:lnTo>
                <a:arcTo hR="76200" wR="76200" stAng="5400000" swAng="5400000"/>
                <a:lnTo>
                  <a:pt x="0" y="76200"/>
                </a:lnTo>
                <a:arcTo hR="76200" wR="76200" stAng="10800000" swAng="5400000"/>
                <a:lnTo>
                  <a:pt x="76200" y="0"/>
                </a:lnTo>
                <a:arcTo hR="76200" wR="25400" stAng="16200000" swAng="-5400000"/>
                <a:lnTo>
                  <a:pt x="50800" y="768927"/>
                </a:lnTo>
                <a:arcTo hR="76200" wR="25400" stAng="10800000" swAng="-5400000"/>
                <a:close/>
              </a:path>
            </a:pathLst>
          </a:custGeom>
          <a:solidFill>
            <a:srgbClr val="C4651C"/>
          </a:solidFill>
          <a:ln/>
        </p:spPr>
      </p:sp>
      <p:sp>
        <p:nvSpPr>
          <p:cNvPr id="8" name="Text 5"/>
          <p:cNvSpPr/>
          <p:nvPr/>
        </p:nvSpPr>
        <p:spPr>
          <a:xfrm>
            <a:off x="7747000" y="1747478"/>
            <a:ext cx="355803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E1B33"/>
                </a:solidFill>
                <a:latin typeface="IBM Plex Sans" pitchFamily="34" charset="0"/>
                <a:ea typeface="IBM Plex Sans" pitchFamily="34" charset="-122"/>
                <a:cs typeface="IBM Plex Sans" pitchFamily="34" charset="-120"/>
              </a:rPr>
              <a:t>Critical · week 1</a:t>
            </a:r>
            <a:endParaRPr lang="en-US" sz="1500" dirty="0"/>
          </a:p>
        </p:txBody>
      </p:sp>
      <p:sp>
        <p:nvSpPr>
          <p:cNvPr id="9" name="Text 6"/>
          <p:cNvSpPr/>
          <p:nvPr/>
        </p:nvSpPr>
        <p:spPr>
          <a:xfrm>
            <a:off x="7747000" y="2014178"/>
            <a:ext cx="3558032" cy="24822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6536A"/>
                </a:solidFill>
                <a:latin typeface="IBM Plex Sans" pitchFamily="34" charset="0"/>
                <a:ea typeface="IBM Plex Sans" pitchFamily="34" charset="-122"/>
                <a:cs typeface="IBM Plex Sans" pitchFamily="34" charset="-120"/>
              </a:rPr>
              <a:t>Payroll lands before collections: −EGP 75k</a:t>
            </a:r>
            <a:endParaRPr lang="en-US" sz="1300" dirty="0"/>
          </a:p>
        </p:txBody>
      </p:sp>
      <p:sp>
        <p:nvSpPr>
          <p:cNvPr id="10" name="Shape 7"/>
          <p:cNvSpPr/>
          <p:nvPr/>
        </p:nvSpPr>
        <p:spPr>
          <a:xfrm>
            <a:off x="7518400" y="2541805"/>
            <a:ext cx="3860800" cy="845127"/>
          </a:xfrm>
          <a:prstGeom prst="roundRect">
            <a:avLst>
              <a:gd name="adj" fmla="val 9016"/>
            </a:avLst>
          </a:prstGeom>
          <a:solidFill>
            <a:srgbClr val="FBE9DB"/>
          </a:solidFill>
          <a:ln/>
        </p:spPr>
      </p:sp>
      <p:sp>
        <p:nvSpPr>
          <p:cNvPr id="11" name="Shape 8"/>
          <p:cNvSpPr/>
          <p:nvPr/>
        </p:nvSpPr>
        <p:spPr>
          <a:xfrm>
            <a:off x="7518400" y="2541805"/>
            <a:ext cx="3860800" cy="845127"/>
          </a:xfrm>
          <a:custGeom>
            <a:avLst/>
            <a:gdLst/>
            <a:ahLst/>
            <a:cxnLst/>
            <a:rect l="l" t="t" r="r" b="b"/>
            <a:pathLst>
              <a:path w="3860800" h="845127">
                <a:moveTo>
                  <a:pt x="76200" y="845127"/>
                </a:moveTo>
                <a:lnTo>
                  <a:pt x="76200" y="845127"/>
                </a:lnTo>
                <a:arcTo hR="76200" wR="76200" stAng="5400000" swAng="5400000"/>
                <a:lnTo>
                  <a:pt x="0" y="76200"/>
                </a:lnTo>
                <a:arcTo hR="76200" wR="76200" stAng="10800000" swAng="5400000"/>
                <a:lnTo>
                  <a:pt x="76200" y="0"/>
                </a:lnTo>
                <a:arcTo hR="76200" wR="25400" stAng="16200000" swAng="-5400000"/>
                <a:lnTo>
                  <a:pt x="50800" y="768927"/>
                </a:lnTo>
                <a:arcTo hR="76200" wR="25400" stAng="10800000" swAng="-5400000"/>
                <a:close/>
              </a:path>
            </a:pathLst>
          </a:custGeom>
          <a:solidFill>
            <a:srgbClr val="C4651C"/>
          </a:solidFill>
          <a:ln/>
        </p:spPr>
      </p:sp>
      <p:sp>
        <p:nvSpPr>
          <p:cNvPr id="12" name="Text 9"/>
          <p:cNvSpPr/>
          <p:nvPr/>
        </p:nvSpPr>
        <p:spPr>
          <a:xfrm>
            <a:off x="7747000" y="2719605"/>
            <a:ext cx="355803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E1B33"/>
                </a:solidFill>
                <a:latin typeface="IBM Plex Sans" pitchFamily="34" charset="0"/>
                <a:ea typeface="IBM Plex Sans" pitchFamily="34" charset="-122"/>
                <a:cs typeface="IBM Plex Sans" pitchFamily="34" charset="-120"/>
              </a:rPr>
              <a:t>Critical · week 7</a:t>
            </a:r>
            <a:endParaRPr lang="en-US" sz="1500" dirty="0"/>
          </a:p>
        </p:txBody>
      </p:sp>
      <p:sp>
        <p:nvSpPr>
          <p:cNvPr id="13" name="Text 10"/>
          <p:cNvSpPr/>
          <p:nvPr/>
        </p:nvSpPr>
        <p:spPr>
          <a:xfrm>
            <a:off x="7747000" y="2986305"/>
            <a:ext cx="3558032" cy="24822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6536A"/>
                </a:solidFill>
                <a:latin typeface="IBM Plex Sans" pitchFamily="34" charset="0"/>
                <a:ea typeface="IBM Plex Sans" pitchFamily="34" charset="-122"/>
                <a:cs typeface="IBM Plex Sans" pitchFamily="34" charset="-120"/>
              </a:rPr>
              <a:t>Second dip: −EGP 80k</a:t>
            </a:r>
            <a:endParaRPr lang="en-US" sz="1300" dirty="0"/>
          </a:p>
        </p:txBody>
      </p:sp>
      <p:sp>
        <p:nvSpPr>
          <p:cNvPr id="14" name="Shape 11"/>
          <p:cNvSpPr/>
          <p:nvPr/>
        </p:nvSpPr>
        <p:spPr>
          <a:xfrm>
            <a:off x="7518400" y="3513931"/>
            <a:ext cx="3860800" cy="845127"/>
          </a:xfrm>
          <a:prstGeom prst="roundRect">
            <a:avLst>
              <a:gd name="adj" fmla="val 9016"/>
            </a:avLst>
          </a:prstGeom>
          <a:solidFill>
            <a:srgbClr val="E4ECFA"/>
          </a:solidFill>
          <a:ln/>
        </p:spPr>
      </p:sp>
      <p:sp>
        <p:nvSpPr>
          <p:cNvPr id="15" name="Shape 12"/>
          <p:cNvSpPr/>
          <p:nvPr/>
        </p:nvSpPr>
        <p:spPr>
          <a:xfrm>
            <a:off x="7518400" y="3513931"/>
            <a:ext cx="3860800" cy="845127"/>
          </a:xfrm>
          <a:custGeom>
            <a:avLst/>
            <a:gdLst/>
            <a:ahLst/>
            <a:cxnLst/>
            <a:rect l="l" t="t" r="r" b="b"/>
            <a:pathLst>
              <a:path w="3860800" h="845127">
                <a:moveTo>
                  <a:pt x="76200" y="845127"/>
                </a:moveTo>
                <a:lnTo>
                  <a:pt x="76200" y="845127"/>
                </a:lnTo>
                <a:arcTo hR="76200" wR="76200" stAng="5400000" swAng="5400000"/>
                <a:lnTo>
                  <a:pt x="0" y="76200"/>
                </a:lnTo>
                <a:arcTo hR="76200" wR="76200" stAng="10800000" swAng="5400000"/>
                <a:lnTo>
                  <a:pt x="76200" y="0"/>
                </a:lnTo>
                <a:arcTo hR="76200" wR="25400" stAng="16200000" swAng="-5400000"/>
                <a:lnTo>
                  <a:pt x="50800" y="768927"/>
                </a:lnTo>
                <a:arcTo hR="76200" wR="25400" stAng="10800000" swAng="-5400000"/>
                <a:close/>
              </a:path>
            </a:pathLst>
          </a:custGeom>
          <a:solidFill>
            <a:srgbClr val="2F6FDF"/>
          </a:solidFill>
          <a:ln/>
        </p:spPr>
      </p:sp>
      <p:sp>
        <p:nvSpPr>
          <p:cNvPr id="16" name="Text 13"/>
          <p:cNvSpPr/>
          <p:nvPr/>
        </p:nvSpPr>
        <p:spPr>
          <a:xfrm>
            <a:off x="7747000" y="3691731"/>
            <a:ext cx="355803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E1B33"/>
                </a:solidFill>
                <a:latin typeface="IBM Plex Sans" pitchFamily="34" charset="0"/>
                <a:ea typeface="IBM Plex Sans" pitchFamily="34" charset="-122"/>
                <a:cs typeface="IBM Plex Sans" pitchFamily="34" charset="-120"/>
              </a:rPr>
              <a:t>Warning · concentration</a:t>
            </a:r>
            <a:endParaRPr lang="en-US" sz="1500" dirty="0"/>
          </a:p>
        </p:txBody>
      </p:sp>
      <p:sp>
        <p:nvSpPr>
          <p:cNvPr id="17" name="Text 14"/>
          <p:cNvSpPr/>
          <p:nvPr/>
        </p:nvSpPr>
        <p:spPr>
          <a:xfrm>
            <a:off x="7747000" y="3958431"/>
            <a:ext cx="3632200" cy="24822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6536A"/>
                </a:solidFill>
                <a:latin typeface="IBM Plex Sans" pitchFamily="34" charset="0"/>
                <a:ea typeface="IBM Plex Sans" pitchFamily="34" charset="-122"/>
                <a:cs typeface="IBM Plex Sans" pitchFamily="34" charset="-120"/>
              </a:rPr>
              <a:t>Nile View Hotel holds 39% of open receivables</a:t>
            </a:r>
            <a:endParaRPr lang="en-US" sz="1300" dirty="0"/>
          </a:p>
        </p:txBody>
      </p:sp>
      <p:sp>
        <p:nvSpPr>
          <p:cNvPr id="18" name="Text 15"/>
          <p:cNvSpPr/>
          <p:nvPr/>
        </p:nvSpPr>
        <p:spPr>
          <a:xfrm>
            <a:off x="7518400" y="4486058"/>
            <a:ext cx="3976624" cy="256526"/>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1B33"/>
                </a:solidFill>
                <a:latin typeface="IBM Plex Sans" pitchFamily="34" charset="0"/>
                <a:ea typeface="IBM Plex Sans" pitchFamily="34" charset="-122"/>
                <a:cs typeface="IBM Plex Sans" pitchFamily="34" charset="-120"/>
              </a:rPr>
              <a:t>Gap to close: EGP 392k</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7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B33"/>
                </a:solidFill>
                <a:latin typeface="Space Grotesk" pitchFamily="34" charset="0"/>
                <a:ea typeface="Space Grotesk" pitchFamily="34" charset="-122"/>
                <a:cs typeface="Space Grotesk" pitchFamily="34" charset="-120"/>
              </a:rPr>
              <a:t>It finds the cheapest fix, then asks her</a:t>
            </a:r>
            <a:endParaRPr lang="en-US" sz="3600" dirty="0"/>
          </a:p>
        </p:txBody>
      </p:sp>
      <p:sp>
        <p:nvSpPr>
          <p:cNvPr id="3" name="Shape 1"/>
          <p:cNvSpPr/>
          <p:nvPr/>
        </p:nvSpPr>
        <p:spPr>
          <a:xfrm>
            <a:off x="11376025" y="1620478"/>
            <a:ext cx="0" cy="1917700"/>
          </a:xfrm>
          <a:prstGeom prst="line">
            <a:avLst/>
          </a:prstGeom>
          <a:noFill/>
          <a:ln w="6350">
            <a:solidFill>
              <a:srgbClr val="DDE2DA"/>
            </a:solidFill>
            <a:prstDash val="solid"/>
          </a:ln>
        </p:spPr>
      </p:sp>
      <p:sp>
        <p:nvSpPr>
          <p:cNvPr id="4" name="Shape 2"/>
          <p:cNvSpPr/>
          <p:nvPr/>
        </p:nvSpPr>
        <p:spPr>
          <a:xfrm>
            <a:off x="812800" y="3535003"/>
            <a:ext cx="10566400" cy="0"/>
          </a:xfrm>
          <a:prstGeom prst="line">
            <a:avLst/>
          </a:prstGeom>
          <a:noFill/>
          <a:ln w="6350">
            <a:solidFill>
              <a:srgbClr val="DDE2DA"/>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036" y="1629714"/>
          <a:ext cx="10552545" cy="1903845"/>
        </p:xfrm>
        <a:graphic>
          <a:graphicData uri="http://schemas.openxmlformats.org/drawingml/2006/table">
            <a:tbl>
              <a:tblPr/>
              <a:tblGrid>
                <a:gridCol w="3587865"/>
                <a:gridCol w="1899458"/>
                <a:gridCol w="1688407"/>
                <a:gridCol w="1477356"/>
                <a:gridCol w="1899458"/>
              </a:tblGrid>
              <a:tr h="409286">
                <a:tc>
                  <a:txBody>
                    <a:bodyPr/>
                    <a:lstStyle/>
                    <a:p>
                      <a:pPr indent="0" marL="0">
                        <a:lnSpc>
                          <a:spcPts val="2100"/>
                        </a:lnSpc>
                        <a:buNone/>
                      </a:pPr>
                      <a:r>
                        <a:rPr lang="en-US" sz="1500" b="1" dirty="0">
                          <a:solidFill>
                            <a:srgbClr val="F5F6F2"/>
                          </a:solidFill>
                          <a:latin typeface="IBM Plex Sans" pitchFamily="34" charset="0"/>
                          <a:ea typeface="IBM Plex Sans" pitchFamily="34" charset="-122"/>
                          <a:cs typeface="IBM Plex Sans" pitchFamily="34" charset="-120"/>
                        </a:rPr>
                        <a:t>Option (sandbox providers)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C1"/>
                      </a:solidFill>
                      <a:prstDash val="solid"/>
                      <a:round/>
                      <a:headEnd type="none" w="med" len="med"/>
                      <a:tailEnd type="none" w="med" len="med"/>
                    </a:lnL>
                    <a:lnR w="12700" cap="flat" cmpd="sng" algn="ctr">
                      <a:solidFill>
                        <a:srgbClr val="0F192C"/>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0F192C"/>
                      </a:solidFill>
                      <a:prstDash val="solid"/>
                      <a:round/>
                      <a:headEnd type="none" w="med" len="med"/>
                      <a:tailEnd type="none" w="med" len="med"/>
                    </a:lnB>
                    <a:solidFill>
                      <a:srgbClr val="0E1B33"/>
                    </a:solidFill>
                  </a:tcPr>
                </a:tc>
                <a:tc>
                  <a:txBody>
                    <a:bodyPr/>
                    <a:lstStyle/>
                    <a:p>
                      <a:pPr algn="r" indent="0" marL="0">
                        <a:lnSpc>
                          <a:spcPts val="2100"/>
                        </a:lnSpc>
                        <a:buNone/>
                      </a:pPr>
                      <a:r>
                        <a:rPr lang="en-US" sz="1500" b="1" dirty="0">
                          <a:solidFill>
                            <a:srgbClr val="F5F6F2"/>
                          </a:solidFill>
                          <a:latin typeface="IBM Plex Sans" pitchFamily="34" charset="0"/>
                          <a:ea typeface="IBM Plex Sans" pitchFamily="34" charset="-122"/>
                          <a:cs typeface="IBM Plex Sans" pitchFamily="34" charset="-120"/>
                        </a:rPr>
                        <a:t>Raises (EGP)</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0F192C"/>
                      </a:solidFill>
                      <a:prstDash val="solid"/>
                      <a:round/>
                      <a:headEnd type="none" w="med" len="med"/>
                      <a:tailEnd type="none" w="med" len="med"/>
                    </a:lnL>
                    <a:lnR w="12700" cap="flat" cmpd="sng" algn="ctr">
                      <a:solidFill>
                        <a:srgbClr val="0F192C"/>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0F192C"/>
                      </a:solidFill>
                      <a:prstDash val="solid"/>
                      <a:round/>
                      <a:headEnd type="none" w="med" len="med"/>
                      <a:tailEnd type="none" w="med" len="med"/>
                    </a:lnB>
                    <a:solidFill>
                      <a:srgbClr val="0E1B33"/>
                    </a:solidFill>
                  </a:tcPr>
                </a:tc>
                <a:tc>
                  <a:txBody>
                    <a:bodyPr/>
                    <a:lstStyle/>
                    <a:p>
                      <a:pPr algn="r" indent="0" marL="0">
                        <a:lnSpc>
                          <a:spcPts val="2100"/>
                        </a:lnSpc>
                        <a:buNone/>
                      </a:pPr>
                      <a:r>
                        <a:rPr lang="en-US" sz="1500" b="1" dirty="0">
                          <a:solidFill>
                            <a:srgbClr val="F5F6F2"/>
                          </a:solidFill>
                          <a:latin typeface="IBM Plex Sans" pitchFamily="34" charset="0"/>
                          <a:ea typeface="IBM Plex Sans" pitchFamily="34" charset="-122"/>
                          <a:cs typeface="IBM Plex Sans" pitchFamily="34" charset="-120"/>
                        </a:rPr>
                        <a:t>Cost (EGP)</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0F192C"/>
                      </a:solidFill>
                      <a:prstDash val="solid"/>
                      <a:round/>
                      <a:headEnd type="none" w="med" len="med"/>
                      <a:tailEnd type="none" w="med" len="med"/>
                    </a:lnL>
                    <a:lnR w="12700" cap="flat" cmpd="sng" algn="ctr">
                      <a:solidFill>
                        <a:srgbClr val="0F192C"/>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0F192C"/>
                      </a:solidFill>
                      <a:prstDash val="solid"/>
                      <a:round/>
                      <a:headEnd type="none" w="med" len="med"/>
                      <a:tailEnd type="none" w="med" len="med"/>
                    </a:lnB>
                    <a:solidFill>
                      <a:srgbClr val="0E1B33"/>
                    </a:solidFill>
                  </a:tcPr>
                </a:tc>
                <a:tc>
                  <a:txBody>
                    <a:bodyPr/>
                    <a:lstStyle/>
                    <a:p>
                      <a:pPr algn="r" indent="0" marL="0">
                        <a:lnSpc>
                          <a:spcPts val="2100"/>
                        </a:lnSpc>
                        <a:buNone/>
                      </a:pPr>
                      <a:r>
                        <a:rPr lang="en-US" sz="1500" b="1" dirty="0">
                          <a:solidFill>
                            <a:srgbClr val="F5F6F2"/>
                          </a:solidFill>
                          <a:latin typeface="IBM Plex Sans" pitchFamily="34" charset="0"/>
                          <a:ea typeface="IBM Plex Sans" pitchFamily="34" charset="-122"/>
                          <a:cs typeface="IBM Plex Sans" pitchFamily="34" charset="-120"/>
                        </a:rPr>
                        <a:t>Per 1,000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0F192C"/>
                      </a:solidFill>
                      <a:prstDash val="solid"/>
                      <a:round/>
                      <a:headEnd type="none" w="med" len="med"/>
                      <a:tailEnd type="none" w="med" len="med"/>
                    </a:lnL>
                    <a:lnR w="12700" cap="flat" cmpd="sng" algn="ctr">
                      <a:solidFill>
                        <a:srgbClr val="0F192C"/>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0F192C"/>
                      </a:solidFill>
                      <a:prstDash val="solid"/>
                      <a:round/>
                      <a:headEnd type="none" w="med" len="med"/>
                      <a:tailEnd type="none" w="med" len="med"/>
                    </a:lnB>
                    <a:solidFill>
                      <a:srgbClr val="0E1B33"/>
                    </a:solidFill>
                  </a:tcPr>
                </a:tc>
                <a:tc>
                  <a:txBody>
                    <a:bodyPr/>
                    <a:lstStyle/>
                    <a:p>
                      <a:pPr indent="0" marL="0">
                        <a:lnSpc>
                          <a:spcPts val="2100"/>
                        </a:lnSpc>
                        <a:buNone/>
                      </a:pPr>
                      <a:r>
                        <a:rPr lang="en-US" sz="1500" b="1" dirty="0">
                          <a:solidFill>
                            <a:srgbClr val="F5F6F2"/>
                          </a:solidFill>
                          <a:latin typeface="IBM Plex Sans" pitchFamily="34" charset="0"/>
                          <a:ea typeface="IBM Plex Sans" pitchFamily="34" charset="-122"/>
                          <a:cs typeface="IBM Plex Sans" pitchFamily="34" charset="-120"/>
                        </a:rPr>
                        <a:t>Verdict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0F192C"/>
                      </a:solidFill>
                      <a:prstDash val="solid"/>
                      <a:round/>
                      <a:headEnd type="none" w="med" len="med"/>
                      <a:tailEnd type="none" w="med" len="med"/>
                    </a:lnL>
                    <a:lnR w="12700" cap="flat" cmpd="sng" algn="ctr">
                      <a:solidFill>
                        <a:srgbClr val="0F192C"/>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0F192C"/>
                      </a:solidFill>
                      <a:prstDash val="solid"/>
                      <a:round/>
                      <a:headEnd type="none" w="med" len="med"/>
                      <a:tailEnd type="none" w="med" len="med"/>
                    </a:lnB>
                    <a:solidFill>
                      <a:srgbClr val="0E1B33"/>
                    </a:solidFill>
                  </a:tcPr>
                </a:tc>
              </a:tr>
              <a:tr h="409286">
                <a:tc>
                  <a:txBody>
                    <a:bodyPr/>
                    <a:lstStyle/>
                    <a:p>
                      <a:pPr indent="0" marL="0">
                        <a:lnSpc>
                          <a:spcPts val="2100"/>
                        </a:lnSpc>
                        <a:buNone/>
                      </a:pPr>
                      <a:r>
                        <a:rPr lang="en-US" sz="1500" dirty="0">
                          <a:solidFill>
                            <a:srgbClr val="0E1B33"/>
                          </a:solidFill>
                          <a:latin typeface="IBM Plex Sans" pitchFamily="34" charset="0"/>
                          <a:ea typeface="IBM Plex Sans" pitchFamily="34" charset="-122"/>
                          <a:cs typeface="IBM Plex Sans" pitchFamily="34" charset="-120"/>
                        </a:rPr>
                        <a:t>Factor 4 invoices · NileFactor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C1"/>
                      </a:solidFill>
                      <a:prstDash val="solid"/>
                      <a:round/>
                      <a:headEnd type="none" w="med" len="med"/>
                      <a:tailEnd type="none" w="med" len="med"/>
                    </a:lnL>
                    <a:lnR w="12700" cap="flat" cmpd="sng" algn="ctr">
                      <a:solidFill>
                        <a:srgbClr val="B6BCC7"/>
                      </a:solidFill>
                      <a:prstDash val="solid"/>
                      <a:round/>
                      <a:headEnd type="none" w="med" len="med"/>
                      <a:tailEnd type="none" w="med" len="med"/>
                    </a:lnR>
                    <a:lnT w="12700" cap="flat" cmpd="sng" algn="ctr">
                      <a:solidFill>
                        <a:srgbClr val="0F192C"/>
                      </a:solidFill>
                      <a:prstDash val="solid"/>
                      <a:round/>
                      <a:headEnd type="none" w="med" len="med"/>
                      <a:tailEnd type="none" w="med" len="med"/>
                    </a:lnT>
                    <a:lnB w="12700" cap="flat" cmpd="sng" algn="ctr">
                      <a:solidFill>
                        <a:srgbClr val="B6BCC7"/>
                      </a:solidFill>
                      <a:prstDash val="solid"/>
                      <a:round/>
                      <a:headEnd type="none" w="med" len="med"/>
                      <a:tailEnd type="none" w="med" len="med"/>
                    </a:lnB>
                    <a:solidFill>
                      <a:srgbClr val="E4ECFA"/>
                    </a:solidFill>
                  </a:tcPr>
                </a:tc>
                <a:tc>
                  <a:txBody>
                    <a:bodyPr/>
                    <a:lstStyle/>
                    <a:p>
                      <a:pPr algn="r" indent="0" marL="0">
                        <a:lnSpc>
                          <a:spcPts val="2100"/>
                        </a:lnSpc>
                        <a:buNone/>
                      </a:pPr>
                      <a:r>
                        <a:rPr lang="en-US" sz="1500" dirty="0">
                          <a:solidFill>
                            <a:srgbClr val="0E1B33"/>
                          </a:solidFill>
                          <a:latin typeface="IBM Plex Sans" pitchFamily="34" charset="0"/>
                          <a:ea typeface="IBM Plex Sans" pitchFamily="34" charset="-122"/>
                          <a:cs typeface="IBM Plex Sans" pitchFamily="34" charset="-120"/>
                        </a:rPr>
                        <a:t>414,630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CC7"/>
                      </a:solidFill>
                      <a:prstDash val="solid"/>
                      <a:round/>
                      <a:headEnd type="none" w="med" len="med"/>
                      <a:tailEnd type="none" w="med" len="med"/>
                    </a:lnL>
                    <a:lnR w="12700" cap="flat" cmpd="sng" algn="ctr">
                      <a:solidFill>
                        <a:srgbClr val="B6BCC7"/>
                      </a:solidFill>
                      <a:prstDash val="solid"/>
                      <a:round/>
                      <a:headEnd type="none" w="med" len="med"/>
                      <a:tailEnd type="none" w="med" len="med"/>
                    </a:lnR>
                    <a:lnT w="12700" cap="flat" cmpd="sng" algn="ctr">
                      <a:solidFill>
                        <a:srgbClr val="0F192C"/>
                      </a:solidFill>
                      <a:prstDash val="solid"/>
                      <a:round/>
                      <a:headEnd type="none" w="med" len="med"/>
                      <a:tailEnd type="none" w="med" len="med"/>
                    </a:lnT>
                    <a:lnB w="12700" cap="flat" cmpd="sng" algn="ctr">
                      <a:solidFill>
                        <a:srgbClr val="B6BCC7"/>
                      </a:solidFill>
                      <a:prstDash val="solid"/>
                      <a:round/>
                      <a:headEnd type="none" w="med" len="med"/>
                      <a:tailEnd type="none" w="med" len="med"/>
                    </a:lnB>
                    <a:solidFill>
                      <a:srgbClr val="E4ECFA"/>
                    </a:solidFill>
                  </a:tcPr>
                </a:tc>
                <a:tc>
                  <a:txBody>
                    <a:bodyPr/>
                    <a:lstStyle/>
                    <a:p>
                      <a:pPr algn="r" indent="0" marL="0">
                        <a:lnSpc>
                          <a:spcPts val="2100"/>
                        </a:lnSpc>
                        <a:buNone/>
                      </a:pPr>
                      <a:r>
                        <a:rPr lang="en-US" sz="1500" dirty="0">
                          <a:solidFill>
                            <a:srgbClr val="0E1B33"/>
                          </a:solidFill>
                          <a:latin typeface="IBM Plex Sans" pitchFamily="34" charset="0"/>
                          <a:ea typeface="IBM Plex Sans" pitchFamily="34" charset="-122"/>
                          <a:cs typeface="IBM Plex Sans" pitchFamily="34" charset="-120"/>
                        </a:rPr>
                        <a:t>17,332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CC7"/>
                      </a:solidFill>
                      <a:prstDash val="solid"/>
                      <a:round/>
                      <a:headEnd type="none" w="med" len="med"/>
                      <a:tailEnd type="none" w="med" len="med"/>
                    </a:lnL>
                    <a:lnR w="12700" cap="flat" cmpd="sng" algn="ctr">
                      <a:solidFill>
                        <a:srgbClr val="B6BCC7"/>
                      </a:solidFill>
                      <a:prstDash val="solid"/>
                      <a:round/>
                      <a:headEnd type="none" w="med" len="med"/>
                      <a:tailEnd type="none" w="med" len="med"/>
                    </a:lnR>
                    <a:lnT w="12700" cap="flat" cmpd="sng" algn="ctr">
                      <a:solidFill>
                        <a:srgbClr val="0F192C"/>
                      </a:solidFill>
                      <a:prstDash val="solid"/>
                      <a:round/>
                      <a:headEnd type="none" w="med" len="med"/>
                      <a:tailEnd type="none" w="med" len="med"/>
                    </a:lnT>
                    <a:lnB w="12700" cap="flat" cmpd="sng" algn="ctr">
                      <a:solidFill>
                        <a:srgbClr val="B6BCC7"/>
                      </a:solidFill>
                      <a:prstDash val="solid"/>
                      <a:round/>
                      <a:headEnd type="none" w="med" len="med"/>
                      <a:tailEnd type="none" w="med" len="med"/>
                    </a:lnB>
                    <a:solidFill>
                      <a:srgbClr val="E4ECFA"/>
                    </a:solidFill>
                  </a:tcPr>
                </a:tc>
                <a:tc>
                  <a:txBody>
                    <a:bodyPr/>
                    <a:lstStyle/>
                    <a:p>
                      <a:pPr algn="r" indent="0" marL="0">
                        <a:lnSpc>
                          <a:spcPts val="2100"/>
                        </a:lnSpc>
                        <a:buNone/>
                      </a:pPr>
                      <a:r>
                        <a:rPr lang="en-US" sz="1500" dirty="0">
                          <a:solidFill>
                            <a:srgbClr val="0E1B33"/>
                          </a:solidFill>
                          <a:latin typeface="IBM Plex Sans" pitchFamily="34" charset="0"/>
                          <a:ea typeface="IBM Plex Sans" pitchFamily="34" charset="-122"/>
                          <a:cs typeface="IBM Plex Sans" pitchFamily="34" charset="-120"/>
                        </a:rPr>
                        <a:t>42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CC7"/>
                      </a:solidFill>
                      <a:prstDash val="solid"/>
                      <a:round/>
                      <a:headEnd type="none" w="med" len="med"/>
                      <a:tailEnd type="none" w="med" len="med"/>
                    </a:lnL>
                    <a:lnR w="12700" cap="flat" cmpd="sng" algn="ctr">
                      <a:solidFill>
                        <a:srgbClr val="B6BCC7"/>
                      </a:solidFill>
                      <a:prstDash val="solid"/>
                      <a:round/>
                      <a:headEnd type="none" w="med" len="med"/>
                      <a:tailEnd type="none" w="med" len="med"/>
                    </a:lnR>
                    <a:lnT w="12700" cap="flat" cmpd="sng" algn="ctr">
                      <a:solidFill>
                        <a:srgbClr val="0F192C"/>
                      </a:solidFill>
                      <a:prstDash val="solid"/>
                      <a:round/>
                      <a:headEnd type="none" w="med" len="med"/>
                      <a:tailEnd type="none" w="med" len="med"/>
                    </a:lnT>
                    <a:lnB w="12700" cap="flat" cmpd="sng" algn="ctr">
                      <a:solidFill>
                        <a:srgbClr val="B6BCC7"/>
                      </a:solidFill>
                      <a:prstDash val="solid"/>
                      <a:round/>
                      <a:headEnd type="none" w="med" len="med"/>
                      <a:tailEnd type="none" w="med" len="med"/>
                    </a:lnB>
                    <a:solidFill>
                      <a:srgbClr val="E4ECFA"/>
                    </a:solidFill>
                  </a:tcPr>
                </a:tc>
                <a:tc>
                  <a:txBody>
                    <a:bodyPr/>
                    <a:lstStyle/>
                    <a:p>
                      <a:pPr indent="0" marL="0">
                        <a:lnSpc>
                          <a:spcPts val="2100"/>
                        </a:lnSpc>
                        <a:buNone/>
                      </a:pPr>
                      <a:r>
                        <a:rPr lang="en-US" sz="1500" dirty="0">
                          <a:solidFill>
                            <a:srgbClr val="0E1B33"/>
                          </a:solidFill>
                          <a:latin typeface="IBM Plex Sans" pitchFamily="34" charset="0"/>
                          <a:ea typeface="IBM Plex Sans" pitchFamily="34" charset="-122"/>
                          <a:cs typeface="IBM Plex Sans" pitchFamily="34" charset="-120"/>
                        </a:rPr>
                        <a:t>Recommended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CC7"/>
                      </a:solidFill>
                      <a:prstDash val="solid"/>
                      <a:round/>
                      <a:headEnd type="none" w="med" len="med"/>
                      <a:tailEnd type="none" w="med" len="med"/>
                    </a:lnL>
                    <a:lnR w="12700" cap="flat" cmpd="sng" algn="ctr">
                      <a:solidFill>
                        <a:srgbClr val="B6BCC7"/>
                      </a:solidFill>
                      <a:prstDash val="solid"/>
                      <a:round/>
                      <a:headEnd type="none" w="med" len="med"/>
                      <a:tailEnd type="none" w="med" len="med"/>
                    </a:lnR>
                    <a:lnT w="12700" cap="flat" cmpd="sng" algn="ctr">
                      <a:solidFill>
                        <a:srgbClr val="0F192C"/>
                      </a:solidFill>
                      <a:prstDash val="solid"/>
                      <a:round/>
                      <a:headEnd type="none" w="med" len="med"/>
                      <a:tailEnd type="none" w="med" len="med"/>
                    </a:lnT>
                    <a:lnB w="12700" cap="flat" cmpd="sng" algn="ctr">
                      <a:solidFill>
                        <a:srgbClr val="B6BCC7"/>
                      </a:solidFill>
                      <a:prstDash val="solid"/>
                      <a:round/>
                      <a:headEnd type="none" w="med" len="med"/>
                      <a:tailEnd type="none" w="med" len="med"/>
                    </a:lnB>
                    <a:solidFill>
                      <a:srgbClr val="E4ECFA"/>
                    </a:solidFill>
                  </a:tcPr>
                </a:tc>
              </a:tr>
              <a:tr h="409286">
                <a:tc>
                  <a:txBody>
                    <a:bodyPr/>
                    <a:lstStyle/>
                    <a:p>
                      <a:pPr indent="0" marL="0">
                        <a:lnSpc>
                          <a:spcPts val="2100"/>
                        </a:lnSpc>
                        <a:buNone/>
                      </a:pPr>
                      <a:r>
                        <a:rPr lang="en-US" sz="1500" dirty="0">
                          <a:solidFill>
                            <a:srgbClr val="0E1B33"/>
                          </a:solidFill>
                          <a:latin typeface="IBM Plex Sans" pitchFamily="34" charset="0"/>
                          <a:ea typeface="IBM Plex Sans" pitchFamily="34" charset="-122"/>
                          <a:cs typeface="IBM Plex Sans" pitchFamily="34" charset="-120"/>
                        </a:rPr>
                        <a:t>6-month loan · Cairo Micro Lending</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C1"/>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6BCC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2100"/>
                        </a:lnSpc>
                        <a:buNone/>
                      </a:pPr>
                      <a:r>
                        <a:rPr lang="en-US" sz="1500" dirty="0">
                          <a:solidFill>
                            <a:srgbClr val="0E1B33"/>
                          </a:solidFill>
                          <a:latin typeface="IBM Plex Sans" pitchFamily="34" charset="0"/>
                          <a:ea typeface="IBM Plex Sans" pitchFamily="34" charset="-122"/>
                          <a:cs typeface="IBM Plex Sans" pitchFamily="34" charset="-120"/>
                        </a:rPr>
                        <a:t>391,649</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6BCC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2100"/>
                        </a:lnSpc>
                        <a:buNone/>
                      </a:pPr>
                      <a:r>
                        <a:rPr lang="en-US" sz="1500" dirty="0">
                          <a:solidFill>
                            <a:srgbClr val="0E1B33"/>
                          </a:solidFill>
                          <a:latin typeface="IBM Plex Sans" pitchFamily="34" charset="0"/>
                          <a:ea typeface="IBM Plex Sans" pitchFamily="34" charset="-122"/>
                          <a:cs typeface="IBM Plex Sans" pitchFamily="34" charset="-120"/>
                        </a:rPr>
                        <a:t>37,355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6BCC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2100"/>
                        </a:lnSpc>
                        <a:buNone/>
                      </a:pPr>
                      <a:r>
                        <a:rPr lang="en-US" sz="1500" dirty="0">
                          <a:solidFill>
                            <a:srgbClr val="0E1B33"/>
                          </a:solidFill>
                          <a:latin typeface="IBM Plex Sans" pitchFamily="34" charset="0"/>
                          <a:ea typeface="IBM Plex Sans" pitchFamily="34" charset="-122"/>
                          <a:cs typeface="IBM Plex Sans" pitchFamily="34" charset="-120"/>
                        </a:rPr>
                        <a:t>95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6BCC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0E1B33"/>
                          </a:solidFill>
                          <a:latin typeface="IBM Plex Sans" pitchFamily="34" charset="0"/>
                          <a:ea typeface="IBM Plex Sans" pitchFamily="34" charset="-122"/>
                          <a:cs typeface="IBM Plex Sans" pitchFamily="34" charset="-120"/>
                        </a:rPr>
                        <a:t>Eligible, 2.2× cost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6BCC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675986">
                <a:tc>
                  <a:txBody>
                    <a:bodyPr/>
                    <a:lstStyle/>
                    <a:p>
                      <a:pPr indent="0" marL="0">
                        <a:lnSpc>
                          <a:spcPts val="2100"/>
                        </a:lnSpc>
                        <a:buNone/>
                      </a:pPr>
                      <a:r>
                        <a:rPr lang="en-US" sz="1500" dirty="0">
                          <a:solidFill>
                            <a:srgbClr val="0E1B33"/>
                          </a:solidFill>
                          <a:latin typeface="IBM Plex Sans" pitchFamily="34" charset="0"/>
                          <a:ea typeface="IBM Plex Sans" pitchFamily="34" charset="-122"/>
                          <a:cs typeface="IBM Plex Sans" pitchFamily="34" charset="-120"/>
                        </a:rPr>
                        <a:t>Invoice discounting · Delta</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C1"/>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2100"/>
                        </a:lnSpc>
                        <a:buNone/>
                      </a:pPr>
                      <a:r>
                        <a:rPr lang="en-US" sz="1500" dirty="0">
                          <a:solidFill>
                            <a:srgbClr val="0E1B33"/>
                          </a:solidFill>
                          <a:latin typeface="IBM Plex Sans" pitchFamily="34" charset="0"/>
                          <a:ea typeface="IBM Plex Sans" pitchFamily="34" charset="-122"/>
                          <a:cs typeface="IBM Plex Sans" pitchFamily="34" charset="-120"/>
                        </a:rPr>
                        <a: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2100"/>
                        </a:lnSpc>
                        <a:buNone/>
                      </a:pPr>
                      <a:r>
                        <a:rPr lang="en-US" sz="1500" dirty="0">
                          <a:solidFill>
                            <a:srgbClr val="0E1B33"/>
                          </a:solidFill>
                          <a:latin typeface="IBM Plex Sans" pitchFamily="34" charset="0"/>
                          <a:ea typeface="IBM Plex Sans" pitchFamily="34" charset="-122"/>
                          <a:cs typeface="IBM Plex Sans" pitchFamily="34" charset="-120"/>
                        </a:rPr>
                        <a: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2100"/>
                        </a:lnSpc>
                        <a:buNone/>
                      </a:pPr>
                      <a:r>
                        <a:rPr lang="en-US" sz="1500" dirty="0">
                          <a:solidFill>
                            <a:srgbClr val="0E1B33"/>
                          </a:solidFill>
                          <a:latin typeface="IBM Plex Sans" pitchFamily="34" charset="0"/>
                          <a:ea typeface="IBM Plex Sans" pitchFamily="34" charset="-122"/>
                          <a:cs typeface="IBM Plex Sans" pitchFamily="34" charset="-120"/>
                        </a:rPr>
                        <a: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0E1B33"/>
                          </a:solidFill>
                          <a:latin typeface="IBM Plex Sans" pitchFamily="34" charset="0"/>
                          <a:ea typeface="IBM Plex Sans" pitchFamily="34" charset="-122"/>
                          <a:cs typeface="IBM Plex Sans" pitchFamily="34" charset="-120"/>
                        </a:rPr>
                        <a:t>Not eligible: score below 60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6" name="Text 3"/>
          <p:cNvSpPr/>
          <p:nvPr/>
        </p:nvSpPr>
        <p:spPr>
          <a:xfrm>
            <a:off x="815975" y="3846153"/>
            <a:ext cx="1267547" cy="462612"/>
          </a:xfrm>
          <a:prstGeom prst="roundRect">
            <a:avLst>
              <a:gd name="adj" fmla="val 50000"/>
            </a:avLst>
          </a:prstGeom>
          <a:solidFill>
            <a:srgbClr val="FFFFFF"/>
          </a:solidFill>
          <a:ln w="6350">
            <a:solidFill>
              <a:srgbClr val="DDE2DA"/>
            </a:solidFill>
            <a:prstDash val="solid"/>
          </a:ln>
        </p:spPr>
        <p:txBody>
          <a:bodyPr wrap="none" lIns="0" tIns="0" rIns="0" bIns="0" rtlCol="0" anchor="ctr">
            <a:normAutofit/>
          </a:bodyPr>
          <a:lstStyle/>
          <a:p>
            <a:pPr algn="ctr" indent="0" marL="0">
              <a:lnSpc>
                <a:spcPts val="1820"/>
              </a:lnSpc>
              <a:buNone/>
            </a:pPr>
            <a:r>
              <a:rPr lang="en-US" sz="1300" dirty="0">
                <a:solidFill>
                  <a:srgbClr val="0E1B33"/>
                </a:solidFill>
                <a:latin typeface="IBM Plex Sans" pitchFamily="34" charset="0"/>
                <a:ea typeface="IBM Plex Sans" pitchFamily="34" charset="-122"/>
                <a:cs typeface="IBM Plex Sans" pitchFamily="34" charset="-120"/>
              </a:rPr>
              <a:t>Agent drafts</a:t>
            </a:r>
            <a:endParaRPr lang="en-US" sz="1300" dirty="0"/>
          </a:p>
        </p:txBody>
      </p:sp>
      <p:pic>
        <p:nvPicPr>
          <p:cNvPr id="7" name="Image 0" descr="arrow-right">    </p:cNvPr>
          <p:cNvPicPr>
            <a:picLocks noChangeAspect="1"/>
          </p:cNvPicPr>
          <p:nvPr/>
        </p:nvPicPr>
        <p:blipFill>
          <a:blip r:embed="rId1"/>
          <a:srcRect l="0" r="0" t="0" b="0"/>
          <a:stretch/>
        </p:blipFill>
        <p:spPr>
          <a:xfrm>
            <a:off x="2239097" y="4001226"/>
            <a:ext cx="304800" cy="152400"/>
          </a:xfrm>
          <a:prstGeom prst="rect">
            <a:avLst/>
          </a:prstGeom>
        </p:spPr>
      </p:pic>
      <p:sp>
        <p:nvSpPr>
          <p:cNvPr id="8" name="Text 4"/>
          <p:cNvSpPr/>
          <p:nvPr/>
        </p:nvSpPr>
        <p:spPr>
          <a:xfrm>
            <a:off x="2696297" y="3847598"/>
            <a:ext cx="1564842" cy="459726"/>
          </a:xfrm>
          <a:prstGeom prst="roundRect">
            <a:avLst>
              <a:gd name="adj" fmla="val 50000"/>
            </a:avLst>
          </a:prstGeom>
          <a:solidFill>
            <a:srgbClr val="0E1B33"/>
          </a:solidFill>
          <a:ln/>
        </p:spPr>
        <p:txBody>
          <a:bodyPr wrap="none" lIns="0" tIns="0" rIns="0" bIns="0" rtlCol="0" anchor="ctr">
            <a:normAutofit/>
          </a:bodyPr>
          <a:lstStyle/>
          <a:p>
            <a:pPr algn="ctr" indent="0" marL="0">
              <a:lnSpc>
                <a:spcPts val="1820"/>
              </a:lnSpc>
              <a:buNone/>
            </a:pPr>
            <a:r>
              <a:rPr lang="en-US" sz="1300" dirty="0">
                <a:solidFill>
                  <a:srgbClr val="F5F6F2"/>
                </a:solidFill>
                <a:latin typeface="IBM Plex Sans" pitchFamily="34" charset="0"/>
                <a:ea typeface="IBM Plex Sans" pitchFamily="34" charset="-122"/>
                <a:cs typeface="IBM Plex Sans" pitchFamily="34" charset="-120"/>
              </a:rPr>
              <a:t>Owner approves</a:t>
            </a:r>
            <a:endParaRPr lang="en-US" sz="1300" dirty="0"/>
          </a:p>
        </p:txBody>
      </p:sp>
      <p:pic>
        <p:nvPicPr>
          <p:cNvPr id="9" name="Image 1" descr="arrow-right">    </p:cNvPr>
          <p:cNvPicPr>
            <a:picLocks noChangeAspect="1"/>
          </p:cNvPicPr>
          <p:nvPr/>
        </p:nvPicPr>
        <p:blipFill>
          <a:blip r:embed="rId2"/>
          <a:srcRect l="0" r="0" t="0" b="0"/>
          <a:stretch/>
        </p:blipFill>
        <p:spPr>
          <a:xfrm>
            <a:off x="4413539" y="4001226"/>
            <a:ext cx="304800" cy="152400"/>
          </a:xfrm>
          <a:prstGeom prst="rect">
            <a:avLst/>
          </a:prstGeom>
        </p:spPr>
      </p:pic>
      <p:sp>
        <p:nvSpPr>
          <p:cNvPr id="10" name="Text 5"/>
          <p:cNvSpPr/>
          <p:nvPr/>
        </p:nvSpPr>
        <p:spPr>
          <a:xfrm>
            <a:off x="4873914" y="3846153"/>
            <a:ext cx="2723068" cy="462612"/>
          </a:xfrm>
          <a:prstGeom prst="roundRect">
            <a:avLst>
              <a:gd name="adj" fmla="val 50000"/>
            </a:avLst>
          </a:prstGeom>
          <a:solidFill>
            <a:srgbClr val="FFFFFF"/>
          </a:solidFill>
          <a:ln w="6350">
            <a:solidFill>
              <a:srgbClr val="DDE2DA"/>
            </a:solidFill>
            <a:prstDash val="solid"/>
          </a:ln>
        </p:spPr>
        <p:txBody>
          <a:bodyPr wrap="none" lIns="0" tIns="0" rIns="0" bIns="0" rtlCol="0" anchor="ctr">
            <a:normAutofit/>
          </a:bodyPr>
          <a:lstStyle/>
          <a:p>
            <a:pPr algn="ctr" indent="0" marL="0">
              <a:lnSpc>
                <a:spcPts val="1820"/>
              </a:lnSpc>
              <a:buNone/>
            </a:pPr>
            <a:r>
              <a:rPr lang="en-US" sz="1300" dirty="0">
                <a:solidFill>
                  <a:srgbClr val="0E1B33"/>
                </a:solidFill>
                <a:latin typeface="IBM Plex Sans" pitchFamily="34" charset="0"/>
                <a:ea typeface="IBM Plex Sans" pitchFamily="34" charset="-122"/>
                <a:cs typeface="IBM Plex Sans" pitchFamily="34" charset="-120"/>
              </a:rPr>
              <a:t>Provider OK · SBX-F4025422B7</a:t>
            </a:r>
            <a:endParaRPr lang="en-US" sz="1300" dirty="0"/>
          </a:p>
        </p:txBody>
      </p:sp>
      <p:pic>
        <p:nvPicPr>
          <p:cNvPr id="11" name="Image 2" descr="arrow-right">    </p:cNvPr>
          <p:cNvPicPr>
            <a:picLocks noChangeAspect="1"/>
          </p:cNvPicPr>
          <p:nvPr/>
        </p:nvPicPr>
        <p:blipFill>
          <a:blip r:embed="rId3"/>
          <a:srcRect l="0" r="0" t="0" b="0"/>
          <a:stretch/>
        </p:blipFill>
        <p:spPr>
          <a:xfrm>
            <a:off x="7752556" y="4001226"/>
            <a:ext cx="304800" cy="152400"/>
          </a:xfrm>
          <a:prstGeom prst="rect">
            <a:avLst/>
          </a:prstGeom>
        </p:spPr>
      </p:pic>
      <p:sp>
        <p:nvSpPr>
          <p:cNvPr id="12" name="Text 6"/>
          <p:cNvSpPr/>
          <p:nvPr/>
        </p:nvSpPr>
        <p:spPr>
          <a:xfrm>
            <a:off x="8212931" y="3846153"/>
            <a:ext cx="1513753" cy="462612"/>
          </a:xfrm>
          <a:prstGeom prst="roundRect">
            <a:avLst>
              <a:gd name="adj" fmla="val 50000"/>
            </a:avLst>
          </a:prstGeom>
          <a:solidFill>
            <a:srgbClr val="FFFFFF"/>
          </a:solidFill>
          <a:ln w="6350">
            <a:solidFill>
              <a:srgbClr val="DDE2DA"/>
            </a:solidFill>
            <a:prstDash val="solid"/>
          </a:ln>
        </p:spPr>
        <p:txBody>
          <a:bodyPr wrap="none" lIns="0" tIns="0" rIns="0" bIns="0" rtlCol="0" anchor="ctr">
            <a:normAutofit/>
          </a:bodyPr>
          <a:lstStyle/>
          <a:p>
            <a:pPr algn="ctr" indent="0" marL="0">
              <a:lnSpc>
                <a:spcPts val="1820"/>
              </a:lnSpc>
              <a:buNone/>
            </a:pPr>
            <a:r>
              <a:rPr lang="en-US" sz="1300" dirty="0">
                <a:solidFill>
                  <a:srgbClr val="0E1B33"/>
                </a:solidFill>
                <a:latin typeface="IBM Plex Sans" pitchFamily="34" charset="0"/>
                <a:ea typeface="IBM Plex Sans" pitchFamily="34" charset="-122"/>
                <a:cs typeface="IBM Plex Sans" pitchFamily="34" charset="-120"/>
              </a:rPr>
              <a:t>Invoices locked</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B33"/>
        </a:solidFill>
      </p:bgPr>
    </p:bg>
    <p:spTree>
      <p:nvGrpSpPr>
        <p:cNvPr id="1" name=""/>
        <p:cNvGrpSpPr/>
        <p:nvPr/>
      </p:nvGrpSpPr>
      <p:grpSpPr>
        <a:xfrm>
          <a:off x="0" y="0"/>
          <a:ext cx="0" cy="0"/>
          <a:chOff x="0" y="0"/>
          <a:chExt cx="0" cy="0"/>
        </a:xfrm>
      </p:grpSpPr>
      <p:sp>
        <p:nvSpPr>
          <p:cNvPr id="2" name="Text 0"/>
          <p:cNvSpPr/>
          <p:nvPr/>
        </p:nvSpPr>
        <p:spPr>
          <a:xfrm>
            <a:off x="812800" y="1071854"/>
            <a:ext cx="4417216" cy="27427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6DA"/>
                </a:solidFill>
                <a:latin typeface="IBM Plex Sans" pitchFamily="34" charset="0"/>
                <a:ea typeface="IBM Plex Sans" pitchFamily="34" charset="-122"/>
                <a:cs typeface="IBM Plex Sans" pitchFamily="34" charset="-120"/>
              </a:rPr>
              <a:t>Security and compliance</a:t>
            </a:r>
            <a:endParaRPr lang="en-US" sz="1400" dirty="0"/>
          </a:p>
        </p:txBody>
      </p:sp>
      <p:sp>
        <p:nvSpPr>
          <p:cNvPr id="3" name="Text 1"/>
          <p:cNvSpPr/>
          <p:nvPr>
            <p:ph type="title"/>
          </p:nvPr>
        </p:nvSpPr>
        <p:spPr>
          <a:xfrm>
            <a:off x="812800" y="1422332"/>
            <a:ext cx="5146271" cy="52827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5F6F2"/>
                </a:solidFill>
                <a:latin typeface="Space Grotesk" pitchFamily="34" charset="0"/>
                <a:ea typeface="Space Grotesk" pitchFamily="34" charset="-122"/>
                <a:cs typeface="Space Grotesk" pitchFamily="34" charset="-120"/>
              </a:rPr>
              <a:t>Her data stays hers</a:t>
            </a:r>
            <a:endParaRPr lang="en-US" sz="3600" dirty="0"/>
          </a:p>
        </p:txBody>
      </p:sp>
      <p:sp>
        <p:nvSpPr>
          <p:cNvPr id="4" name="Shape 2"/>
          <p:cNvSpPr/>
          <p:nvPr/>
        </p:nvSpPr>
        <p:spPr>
          <a:xfrm>
            <a:off x="9547081" y="812800"/>
            <a:ext cx="1832119" cy="1112405"/>
          </a:xfrm>
          <a:prstGeom prst="roundRect">
            <a:avLst>
              <a:gd name="adj" fmla="val 9133"/>
            </a:avLst>
          </a:prstGeom>
          <a:solidFill>
            <a:srgbClr val="16284A"/>
          </a:solidFill>
          <a:ln/>
        </p:spPr>
      </p:sp>
      <p:sp>
        <p:nvSpPr>
          <p:cNvPr id="5" name="Text 3"/>
          <p:cNvSpPr/>
          <p:nvPr/>
        </p:nvSpPr>
        <p:spPr>
          <a:xfrm>
            <a:off x="9801081" y="965200"/>
            <a:ext cx="1374919" cy="594302"/>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7FA8F0"/>
                </a:solidFill>
                <a:latin typeface="Space Grotesk" pitchFamily="34" charset="0"/>
                <a:ea typeface="Space Grotesk" pitchFamily="34" charset="-122"/>
                <a:cs typeface="Space Grotesk" pitchFamily="34" charset="-120"/>
              </a:rPr>
              <a:t>12 / 12</a:t>
            </a:r>
            <a:endParaRPr lang="en-US" sz="3200" dirty="0"/>
          </a:p>
        </p:txBody>
      </p:sp>
      <p:sp>
        <p:nvSpPr>
          <p:cNvPr id="6" name="Text 4"/>
          <p:cNvSpPr/>
          <p:nvPr/>
        </p:nvSpPr>
        <p:spPr>
          <a:xfrm>
            <a:off x="9801081" y="1559502"/>
            <a:ext cx="1578119" cy="2387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6DA"/>
                </a:solidFill>
                <a:latin typeface="IBM Plex Sans" pitchFamily="34" charset="0"/>
                <a:ea typeface="IBM Plex Sans" pitchFamily="34" charset="-122"/>
                <a:cs typeface="IBM Plex Sans" pitchFamily="34" charset="-120"/>
              </a:rPr>
              <a:t>attack tests passed</a:t>
            </a:r>
            <a:endParaRPr lang="en-US" sz="1200" dirty="0"/>
          </a:p>
        </p:txBody>
      </p:sp>
      <p:sp>
        <p:nvSpPr>
          <p:cNvPr id="7" name="Shape 5"/>
          <p:cNvSpPr/>
          <p:nvPr/>
        </p:nvSpPr>
        <p:spPr>
          <a:xfrm>
            <a:off x="812800" y="2230003"/>
            <a:ext cx="3403600" cy="1694079"/>
          </a:xfrm>
          <a:prstGeom prst="roundRect">
            <a:avLst>
              <a:gd name="adj" fmla="val 7497"/>
            </a:avLst>
          </a:prstGeom>
          <a:solidFill>
            <a:srgbClr val="16284A"/>
          </a:solidFill>
          <a:ln/>
        </p:spPr>
      </p:sp>
      <p:pic>
        <p:nvPicPr>
          <p:cNvPr id="8" name="Image 0" descr="Lock">    </p:cNvPr>
          <p:cNvPicPr>
            <a:picLocks noChangeAspect="1"/>
          </p:cNvPicPr>
          <p:nvPr/>
        </p:nvPicPr>
        <p:blipFill>
          <a:blip r:embed="rId1"/>
          <a:srcRect l="0" r="0" t="0" b="0"/>
          <a:stretch/>
        </p:blipFill>
        <p:spPr>
          <a:xfrm>
            <a:off x="1041400" y="2458603"/>
            <a:ext cx="330200" cy="330200"/>
          </a:xfrm>
          <a:prstGeom prst="rect">
            <a:avLst/>
          </a:prstGeom>
        </p:spPr>
      </p:pic>
      <p:sp>
        <p:nvSpPr>
          <p:cNvPr id="9" name="Text 6"/>
          <p:cNvSpPr/>
          <p:nvPr/>
        </p:nvSpPr>
        <p:spPr>
          <a:xfrm>
            <a:off x="1041400" y="2865003"/>
            <a:ext cx="3034792" cy="29967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6F2"/>
                </a:solidFill>
                <a:latin typeface="Space Grotesk" pitchFamily="34" charset="0"/>
                <a:ea typeface="Space Grotesk" pitchFamily="34" charset="-122"/>
                <a:cs typeface="Space Grotesk" pitchFamily="34" charset="-120"/>
              </a:rPr>
              <a:t>Envelope encryption</a:t>
            </a:r>
            <a:endParaRPr lang="en-US" sz="1800" dirty="0"/>
          </a:p>
        </p:txBody>
      </p:sp>
      <p:sp>
        <p:nvSpPr>
          <p:cNvPr id="10" name="Text 7"/>
          <p:cNvSpPr/>
          <p:nvPr/>
        </p:nvSpPr>
        <p:spPr>
          <a:xfrm>
            <a:off x="1041400" y="3215481"/>
            <a:ext cx="3034792" cy="505402"/>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B9C6DA"/>
                </a:solidFill>
                <a:latin typeface="IBM Plex Sans" pitchFamily="34" charset="0"/>
                <a:ea typeface="IBM Plex Sans" pitchFamily="34" charset="-122"/>
                <a:cs typeface="IBM Plex Sans" pitchFamily="34" charset="-120"/>
              </a:rPr>
              <a:t>AES-256-GCM, a fresh key per field, KMS-ready master key</a:t>
            </a:r>
            <a:endParaRPr lang="en-US" sz="1400" dirty="0"/>
          </a:p>
        </p:txBody>
      </p:sp>
      <p:sp>
        <p:nvSpPr>
          <p:cNvPr id="11" name="Shape 8"/>
          <p:cNvSpPr/>
          <p:nvPr/>
        </p:nvSpPr>
        <p:spPr>
          <a:xfrm>
            <a:off x="4394200" y="2230003"/>
            <a:ext cx="3403600" cy="1694079"/>
          </a:xfrm>
          <a:prstGeom prst="roundRect">
            <a:avLst>
              <a:gd name="adj" fmla="val 7497"/>
            </a:avLst>
          </a:prstGeom>
          <a:solidFill>
            <a:srgbClr val="16284A"/>
          </a:solidFill>
          <a:ln/>
        </p:spPr>
      </p:sp>
      <p:pic>
        <p:nvPicPr>
          <p:cNvPr id="12" name="Image 1" descr="Users">    </p:cNvPr>
          <p:cNvPicPr>
            <a:picLocks noChangeAspect="1"/>
          </p:cNvPicPr>
          <p:nvPr/>
        </p:nvPicPr>
        <p:blipFill>
          <a:blip r:embed="rId2"/>
          <a:srcRect l="0" r="0" t="0" b="0"/>
          <a:stretch/>
        </p:blipFill>
        <p:spPr>
          <a:xfrm>
            <a:off x="4622800" y="2458603"/>
            <a:ext cx="330200" cy="330200"/>
          </a:xfrm>
          <a:prstGeom prst="rect">
            <a:avLst/>
          </a:prstGeom>
        </p:spPr>
      </p:pic>
      <p:sp>
        <p:nvSpPr>
          <p:cNvPr id="13" name="Text 9"/>
          <p:cNvSpPr/>
          <p:nvPr/>
        </p:nvSpPr>
        <p:spPr>
          <a:xfrm>
            <a:off x="4622800" y="2865003"/>
            <a:ext cx="3034792" cy="29967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6F2"/>
                </a:solidFill>
                <a:latin typeface="Space Grotesk" pitchFamily="34" charset="0"/>
                <a:ea typeface="Space Grotesk" pitchFamily="34" charset="-122"/>
                <a:cs typeface="Space Grotesk" pitchFamily="34" charset="-120"/>
              </a:rPr>
              <a:t>3 permission tiers</a:t>
            </a:r>
            <a:endParaRPr lang="en-US" sz="1800" dirty="0"/>
          </a:p>
        </p:txBody>
      </p:sp>
      <p:sp>
        <p:nvSpPr>
          <p:cNvPr id="14" name="Text 10"/>
          <p:cNvSpPr/>
          <p:nvPr/>
        </p:nvSpPr>
        <p:spPr>
          <a:xfrm>
            <a:off x="4622800" y="3215481"/>
            <a:ext cx="3034792" cy="505402"/>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B9C6DA"/>
                </a:solidFill>
                <a:latin typeface="IBM Plex Sans" pitchFamily="34" charset="0"/>
                <a:ea typeface="IBM Plex Sans" pitchFamily="34" charset="-122"/>
                <a:cs typeface="IBM Plex Sans" pitchFamily="34" charset="-120"/>
              </a:rPr>
              <a:t>Owner, advisor, auditor; strict tenant isolation</a:t>
            </a:r>
            <a:endParaRPr lang="en-US" sz="1400" dirty="0"/>
          </a:p>
        </p:txBody>
      </p:sp>
      <p:sp>
        <p:nvSpPr>
          <p:cNvPr id="15" name="Shape 11"/>
          <p:cNvSpPr/>
          <p:nvPr/>
        </p:nvSpPr>
        <p:spPr>
          <a:xfrm>
            <a:off x="7975600" y="2230003"/>
            <a:ext cx="3403600" cy="1694079"/>
          </a:xfrm>
          <a:prstGeom prst="roundRect">
            <a:avLst>
              <a:gd name="adj" fmla="val 7497"/>
            </a:avLst>
          </a:prstGeom>
          <a:solidFill>
            <a:srgbClr val="16284A"/>
          </a:solidFill>
          <a:ln/>
        </p:spPr>
      </p:sp>
      <p:pic>
        <p:nvPicPr>
          <p:cNvPr id="16" name="Image 2" descr="Link">    </p:cNvPr>
          <p:cNvPicPr>
            <a:picLocks noChangeAspect="1"/>
          </p:cNvPicPr>
          <p:nvPr/>
        </p:nvPicPr>
        <p:blipFill>
          <a:blip r:embed="rId3"/>
          <a:srcRect l="0" r="0" t="0" b="0"/>
          <a:stretch/>
        </p:blipFill>
        <p:spPr>
          <a:xfrm>
            <a:off x="8204200" y="2458603"/>
            <a:ext cx="330200" cy="330200"/>
          </a:xfrm>
          <a:prstGeom prst="rect">
            <a:avLst/>
          </a:prstGeom>
        </p:spPr>
      </p:pic>
      <p:sp>
        <p:nvSpPr>
          <p:cNvPr id="17" name="Text 12"/>
          <p:cNvSpPr/>
          <p:nvPr/>
        </p:nvSpPr>
        <p:spPr>
          <a:xfrm>
            <a:off x="8204200" y="2865003"/>
            <a:ext cx="3034792" cy="29967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6F2"/>
                </a:solidFill>
                <a:latin typeface="Space Grotesk" pitchFamily="34" charset="0"/>
                <a:ea typeface="Space Grotesk" pitchFamily="34" charset="-122"/>
                <a:cs typeface="Space Grotesk" pitchFamily="34" charset="-120"/>
              </a:rPr>
              <a:t>Hash-chained audit</a:t>
            </a:r>
            <a:endParaRPr lang="en-US" sz="1800" dirty="0"/>
          </a:p>
        </p:txBody>
      </p:sp>
      <p:sp>
        <p:nvSpPr>
          <p:cNvPr id="18" name="Text 13"/>
          <p:cNvSpPr/>
          <p:nvPr/>
        </p:nvSpPr>
        <p:spPr>
          <a:xfrm>
            <a:off x="8204200" y="3215481"/>
            <a:ext cx="3034792" cy="505402"/>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B9C6DA"/>
                </a:solidFill>
                <a:latin typeface="IBM Plex Sans" pitchFamily="34" charset="0"/>
                <a:ea typeface="IBM Plex Sans" pitchFamily="34" charset="-122"/>
                <a:cs typeface="IBM Plex Sans" pitchFamily="34" charset="-120"/>
              </a:rPr>
              <a:t>Every AI decision logged; any edit breaks the chain</a:t>
            </a:r>
            <a:endParaRPr lang="en-US" sz="1400" dirty="0"/>
          </a:p>
        </p:txBody>
      </p:sp>
      <p:sp>
        <p:nvSpPr>
          <p:cNvPr id="19" name="Shape 14"/>
          <p:cNvSpPr/>
          <p:nvPr/>
        </p:nvSpPr>
        <p:spPr>
          <a:xfrm>
            <a:off x="812800" y="4101883"/>
            <a:ext cx="3403600" cy="1694079"/>
          </a:xfrm>
          <a:prstGeom prst="roundRect">
            <a:avLst>
              <a:gd name="adj" fmla="val 7497"/>
            </a:avLst>
          </a:prstGeom>
          <a:solidFill>
            <a:srgbClr val="16284A"/>
          </a:solidFill>
          <a:ln/>
        </p:spPr>
      </p:sp>
      <p:pic>
        <p:nvPicPr>
          <p:cNvPr id="20" name="Image 3" descr="Verified">    </p:cNvPr>
          <p:cNvPicPr>
            <a:picLocks noChangeAspect="1"/>
          </p:cNvPicPr>
          <p:nvPr/>
        </p:nvPicPr>
        <p:blipFill>
          <a:blip r:embed="rId4"/>
          <a:srcRect l="0" r="0" t="0" b="0"/>
          <a:stretch/>
        </p:blipFill>
        <p:spPr>
          <a:xfrm>
            <a:off x="1041400" y="4330483"/>
            <a:ext cx="330200" cy="330200"/>
          </a:xfrm>
          <a:prstGeom prst="rect">
            <a:avLst/>
          </a:prstGeom>
        </p:spPr>
      </p:pic>
      <p:sp>
        <p:nvSpPr>
          <p:cNvPr id="21" name="Text 15"/>
          <p:cNvSpPr/>
          <p:nvPr/>
        </p:nvSpPr>
        <p:spPr>
          <a:xfrm>
            <a:off x="1041400" y="4736883"/>
            <a:ext cx="3034792" cy="29967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6F2"/>
                </a:solidFill>
                <a:latin typeface="Space Grotesk" pitchFamily="34" charset="0"/>
                <a:ea typeface="Space Grotesk" pitchFamily="34" charset="-122"/>
                <a:cs typeface="Space Grotesk" pitchFamily="34" charset="-120"/>
              </a:rPr>
              <a:t>Human in the loop</a:t>
            </a:r>
            <a:endParaRPr lang="en-US" sz="1800" dirty="0"/>
          </a:p>
        </p:txBody>
      </p:sp>
      <p:sp>
        <p:nvSpPr>
          <p:cNvPr id="22" name="Text 16"/>
          <p:cNvSpPr/>
          <p:nvPr/>
        </p:nvSpPr>
        <p:spPr>
          <a:xfrm>
            <a:off x="1041400" y="5087361"/>
            <a:ext cx="3034792" cy="505402"/>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B9C6DA"/>
                </a:solidFill>
                <a:latin typeface="IBM Plex Sans" pitchFamily="34" charset="0"/>
                <a:ea typeface="IBM Plex Sans" pitchFamily="34" charset="-122"/>
                <a:cs typeface="IBM Plex Sans" pitchFamily="34" charset="-120"/>
              </a:rPr>
              <a:t>Agent drafts only; owner approves; no auto-decline</a:t>
            </a:r>
            <a:endParaRPr lang="en-US" sz="1400" dirty="0"/>
          </a:p>
        </p:txBody>
      </p:sp>
      <p:sp>
        <p:nvSpPr>
          <p:cNvPr id="23" name="Shape 17"/>
          <p:cNvSpPr/>
          <p:nvPr/>
        </p:nvSpPr>
        <p:spPr>
          <a:xfrm>
            <a:off x="4394200" y="4101883"/>
            <a:ext cx="3403600" cy="1694079"/>
          </a:xfrm>
          <a:prstGeom prst="roundRect">
            <a:avLst>
              <a:gd name="adj" fmla="val 7497"/>
            </a:avLst>
          </a:prstGeom>
          <a:solidFill>
            <a:srgbClr val="16284A"/>
          </a:solidFill>
          <a:ln/>
        </p:spPr>
      </p:sp>
      <p:pic>
        <p:nvPicPr>
          <p:cNvPr id="24" name="Image 4" descr="Warning">    </p:cNvPr>
          <p:cNvPicPr>
            <a:picLocks noChangeAspect="1"/>
          </p:cNvPicPr>
          <p:nvPr/>
        </p:nvPicPr>
        <p:blipFill>
          <a:blip r:embed="rId5"/>
          <a:srcRect l="0" r="0" t="0" b="0"/>
          <a:stretch/>
        </p:blipFill>
        <p:spPr>
          <a:xfrm>
            <a:off x="4622800" y="4330483"/>
            <a:ext cx="330200" cy="330200"/>
          </a:xfrm>
          <a:prstGeom prst="rect">
            <a:avLst/>
          </a:prstGeom>
        </p:spPr>
      </p:pic>
      <p:sp>
        <p:nvSpPr>
          <p:cNvPr id="25" name="Text 18"/>
          <p:cNvSpPr/>
          <p:nvPr/>
        </p:nvSpPr>
        <p:spPr>
          <a:xfrm>
            <a:off x="4622800" y="4736883"/>
            <a:ext cx="3034792" cy="29967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6F2"/>
                </a:solidFill>
                <a:latin typeface="Space Grotesk" pitchFamily="34" charset="0"/>
                <a:ea typeface="Space Grotesk" pitchFamily="34" charset="-122"/>
                <a:cs typeface="Space Grotesk" pitchFamily="34" charset="-120"/>
              </a:rPr>
              <a:t>Hostile input</a:t>
            </a:r>
            <a:endParaRPr lang="en-US" sz="1800" dirty="0"/>
          </a:p>
        </p:txBody>
      </p:sp>
      <p:sp>
        <p:nvSpPr>
          <p:cNvPr id="26" name="Text 19"/>
          <p:cNvSpPr/>
          <p:nvPr/>
        </p:nvSpPr>
        <p:spPr>
          <a:xfrm>
            <a:off x="4622800" y="5087361"/>
            <a:ext cx="3034792" cy="505402"/>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B9C6DA"/>
                </a:solidFill>
                <a:latin typeface="IBM Plex Sans" pitchFamily="34" charset="0"/>
                <a:ea typeface="IBM Plex Sans" pitchFamily="34" charset="-122"/>
                <a:cs typeface="IBM Plex Sans" pitchFamily="34" charset="-120"/>
              </a:rPr>
              <a:t>XXE blocked, size caps, file typing, validation</a:t>
            </a:r>
            <a:endParaRPr lang="en-US" sz="1400" dirty="0"/>
          </a:p>
        </p:txBody>
      </p:sp>
      <p:sp>
        <p:nvSpPr>
          <p:cNvPr id="27" name="Shape 20"/>
          <p:cNvSpPr/>
          <p:nvPr/>
        </p:nvSpPr>
        <p:spPr>
          <a:xfrm>
            <a:off x="7975600" y="4101883"/>
            <a:ext cx="3403600" cy="1694079"/>
          </a:xfrm>
          <a:prstGeom prst="roundRect">
            <a:avLst>
              <a:gd name="adj" fmla="val 7497"/>
            </a:avLst>
          </a:prstGeom>
          <a:solidFill>
            <a:srgbClr val="16284A"/>
          </a:solidFill>
          <a:ln/>
        </p:spPr>
      </p:sp>
      <p:pic>
        <p:nvPicPr>
          <p:cNvPr id="28" name="Image 5" descr="Key">    </p:cNvPr>
          <p:cNvPicPr>
            <a:picLocks noChangeAspect="1"/>
          </p:cNvPicPr>
          <p:nvPr/>
        </p:nvPicPr>
        <p:blipFill>
          <a:blip r:embed="rId6"/>
          <a:srcRect l="0" r="0" t="0" b="0"/>
          <a:stretch/>
        </p:blipFill>
        <p:spPr>
          <a:xfrm>
            <a:off x="8204200" y="4330483"/>
            <a:ext cx="330200" cy="330200"/>
          </a:xfrm>
          <a:prstGeom prst="rect">
            <a:avLst/>
          </a:prstGeom>
        </p:spPr>
      </p:pic>
      <p:sp>
        <p:nvSpPr>
          <p:cNvPr id="29" name="Text 21"/>
          <p:cNvSpPr/>
          <p:nvPr/>
        </p:nvSpPr>
        <p:spPr>
          <a:xfrm>
            <a:off x="8204200" y="4736883"/>
            <a:ext cx="3034792" cy="29967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6F2"/>
                </a:solidFill>
                <a:latin typeface="Space Grotesk" pitchFamily="34" charset="0"/>
                <a:ea typeface="Space Grotesk" pitchFamily="34" charset="-122"/>
                <a:cs typeface="Space Grotesk" pitchFamily="34" charset="-120"/>
              </a:rPr>
              <a:t>Strong auth</a:t>
            </a:r>
            <a:endParaRPr lang="en-US" sz="1800" dirty="0"/>
          </a:p>
        </p:txBody>
      </p:sp>
      <p:sp>
        <p:nvSpPr>
          <p:cNvPr id="30" name="Text 22"/>
          <p:cNvSpPr/>
          <p:nvPr/>
        </p:nvSpPr>
        <p:spPr>
          <a:xfrm>
            <a:off x="8204200" y="5087361"/>
            <a:ext cx="3034792" cy="505402"/>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B9C6DA"/>
                </a:solidFill>
                <a:latin typeface="IBM Plex Sans" pitchFamily="34" charset="0"/>
                <a:ea typeface="IBM Plex Sans" pitchFamily="34" charset="-122"/>
                <a:cs typeface="IBM Plex Sans" pitchFamily="34" charset="-120"/>
              </a:rPr>
              <a:t>PBKDF2 passwords, short JWTs, lockout after 5 tries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AEDE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7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B33"/>
                </a:solidFill>
                <a:latin typeface="Space Grotesk" pitchFamily="34" charset="0"/>
                <a:ea typeface="Space Grotesk" pitchFamily="34" charset="-122"/>
                <a:cs typeface="Space Grotesk" pitchFamily="34" charset="-120"/>
              </a:rPr>
              <a:t>What’s running today</a:t>
            </a:r>
            <a:endParaRPr lang="en-US" sz="3600" dirty="0"/>
          </a:p>
        </p:txBody>
      </p:sp>
      <p:sp>
        <p:nvSpPr>
          <p:cNvPr id="3" name="Shape 1"/>
          <p:cNvSpPr/>
          <p:nvPr/>
        </p:nvSpPr>
        <p:spPr>
          <a:xfrm>
            <a:off x="812800" y="1620478"/>
            <a:ext cx="10566400" cy="553677"/>
          </a:xfrm>
          <a:prstGeom prst="roundRect">
            <a:avLst>
              <a:gd name="adj" fmla="val 18350"/>
            </a:avLst>
          </a:prstGeom>
          <a:solidFill>
            <a:srgbClr val="FFFFFF"/>
          </a:solidFill>
          <a:ln/>
        </p:spPr>
      </p:sp>
      <p:sp>
        <p:nvSpPr>
          <p:cNvPr id="4" name="Text 2"/>
          <p:cNvSpPr/>
          <p:nvPr/>
        </p:nvSpPr>
        <p:spPr>
          <a:xfrm>
            <a:off x="1041400" y="1772878"/>
            <a:ext cx="2354580" cy="27427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FDF"/>
                </a:solidFill>
                <a:latin typeface="IBM Plex Sans" pitchFamily="34" charset="0"/>
                <a:ea typeface="IBM Plex Sans" pitchFamily="34" charset="-122"/>
                <a:cs typeface="IBM Plex Sans" pitchFamily="34" charset="-120"/>
              </a:rPr>
              <a:t>Dashboard</a:t>
            </a:r>
            <a:endParaRPr lang="en-US" sz="1400" dirty="0"/>
          </a:p>
        </p:txBody>
      </p:sp>
      <p:sp>
        <p:nvSpPr>
          <p:cNvPr id="5" name="Text 3"/>
          <p:cNvSpPr/>
          <p:nvPr/>
        </p:nvSpPr>
        <p:spPr>
          <a:xfrm>
            <a:off x="3505200" y="1772878"/>
            <a:ext cx="5216929" cy="27427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36A"/>
                </a:solidFill>
                <a:latin typeface="IBM Plex Sans" pitchFamily="34" charset="0"/>
                <a:ea typeface="IBM Plex Sans" pitchFamily="34" charset="-122"/>
                <a:cs typeface="IBM Plex Sans" pitchFamily="34" charset="-120"/>
              </a:rPr>
              <a:t>Streamlit: ingestion, dossier, runway, agent, audit vault</a:t>
            </a:r>
            <a:endParaRPr lang="en-US" sz="1400" dirty="0"/>
          </a:p>
        </p:txBody>
      </p:sp>
      <p:sp>
        <p:nvSpPr>
          <p:cNvPr id="6" name="Shape 4"/>
          <p:cNvSpPr/>
          <p:nvPr/>
        </p:nvSpPr>
        <p:spPr>
          <a:xfrm>
            <a:off x="812800" y="2263056"/>
            <a:ext cx="10566400" cy="553677"/>
          </a:xfrm>
          <a:prstGeom prst="roundRect">
            <a:avLst>
              <a:gd name="adj" fmla="val 18350"/>
            </a:avLst>
          </a:prstGeom>
          <a:solidFill>
            <a:srgbClr val="FFFFFF"/>
          </a:solidFill>
          <a:ln/>
        </p:spPr>
      </p:sp>
      <p:sp>
        <p:nvSpPr>
          <p:cNvPr id="7" name="Text 5"/>
          <p:cNvSpPr/>
          <p:nvPr/>
        </p:nvSpPr>
        <p:spPr>
          <a:xfrm>
            <a:off x="1041400" y="2415456"/>
            <a:ext cx="2354580" cy="27427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FDF"/>
                </a:solidFill>
                <a:latin typeface="IBM Plex Sans" pitchFamily="34" charset="0"/>
                <a:ea typeface="IBM Plex Sans" pitchFamily="34" charset="-122"/>
                <a:cs typeface="IBM Plex Sans" pitchFamily="34" charset="-120"/>
              </a:rPr>
              <a:t>API &amp; security</a:t>
            </a:r>
            <a:endParaRPr lang="en-US" sz="1400" dirty="0"/>
          </a:p>
        </p:txBody>
      </p:sp>
      <p:sp>
        <p:nvSpPr>
          <p:cNvPr id="8" name="Text 6"/>
          <p:cNvSpPr/>
          <p:nvPr/>
        </p:nvSpPr>
        <p:spPr>
          <a:xfrm>
            <a:off x="3505200" y="2415456"/>
            <a:ext cx="6044305" cy="27427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36A"/>
                </a:solidFill>
                <a:latin typeface="IBM Plex Sans" pitchFamily="34" charset="0"/>
                <a:ea typeface="IBM Plex Sans" pitchFamily="34" charset="-122"/>
                <a:cs typeface="IBM Plex Sans" pitchFamily="34" charset="-120"/>
              </a:rPr>
              <a:t>FastAPI · JWT · role and tenant checks · hash-chained audit log</a:t>
            </a:r>
            <a:endParaRPr lang="en-US" sz="1400" dirty="0"/>
          </a:p>
        </p:txBody>
      </p:sp>
      <p:sp>
        <p:nvSpPr>
          <p:cNvPr id="9" name="Shape 7"/>
          <p:cNvSpPr/>
          <p:nvPr/>
        </p:nvSpPr>
        <p:spPr>
          <a:xfrm>
            <a:off x="812800" y="2905633"/>
            <a:ext cx="10566400" cy="553677"/>
          </a:xfrm>
          <a:prstGeom prst="roundRect">
            <a:avLst>
              <a:gd name="adj" fmla="val 18350"/>
            </a:avLst>
          </a:prstGeom>
          <a:solidFill>
            <a:srgbClr val="FFFFFF"/>
          </a:solidFill>
          <a:ln/>
        </p:spPr>
      </p:sp>
      <p:sp>
        <p:nvSpPr>
          <p:cNvPr id="10" name="Text 8"/>
          <p:cNvSpPr/>
          <p:nvPr/>
        </p:nvSpPr>
        <p:spPr>
          <a:xfrm>
            <a:off x="1041400" y="3058033"/>
            <a:ext cx="2354580" cy="27427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FDF"/>
                </a:solidFill>
                <a:latin typeface="IBM Plex Sans" pitchFamily="34" charset="0"/>
                <a:ea typeface="IBM Plex Sans" pitchFamily="34" charset="-122"/>
                <a:cs typeface="IBM Plex Sans" pitchFamily="34" charset="-120"/>
              </a:rPr>
              <a:t>Copilot</a:t>
            </a:r>
            <a:endParaRPr lang="en-US" sz="1400" dirty="0"/>
          </a:p>
        </p:txBody>
      </p:sp>
      <p:sp>
        <p:nvSpPr>
          <p:cNvPr id="11" name="Text 9"/>
          <p:cNvSpPr/>
          <p:nvPr/>
        </p:nvSpPr>
        <p:spPr>
          <a:xfrm>
            <a:off x="3505200" y="3058033"/>
            <a:ext cx="6741968" cy="27427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36A"/>
                </a:solidFill>
                <a:latin typeface="IBM Plex Sans" pitchFamily="34" charset="0"/>
                <a:ea typeface="IBM Plex Sans" pitchFamily="34" charset="-122"/>
                <a:cs typeface="IBM Plex Sans" pitchFamily="34" charset="-120"/>
              </a:rPr>
              <a:t>13-week forecast · alerts · financing matcher · agent plan · EN/AR Q&amp;A</a:t>
            </a:r>
            <a:endParaRPr lang="en-US" sz="1400" dirty="0"/>
          </a:p>
        </p:txBody>
      </p:sp>
      <p:sp>
        <p:nvSpPr>
          <p:cNvPr id="12" name="Shape 10"/>
          <p:cNvSpPr/>
          <p:nvPr/>
        </p:nvSpPr>
        <p:spPr>
          <a:xfrm>
            <a:off x="812800" y="3548211"/>
            <a:ext cx="10566400" cy="553677"/>
          </a:xfrm>
          <a:prstGeom prst="roundRect">
            <a:avLst>
              <a:gd name="adj" fmla="val 18350"/>
            </a:avLst>
          </a:prstGeom>
          <a:solidFill>
            <a:srgbClr val="FFFFFF"/>
          </a:solidFill>
          <a:ln/>
        </p:spPr>
      </p:sp>
      <p:sp>
        <p:nvSpPr>
          <p:cNvPr id="13" name="Text 11"/>
          <p:cNvSpPr/>
          <p:nvPr/>
        </p:nvSpPr>
        <p:spPr>
          <a:xfrm>
            <a:off x="1041400" y="3700611"/>
            <a:ext cx="2354580" cy="27427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FDF"/>
                </a:solidFill>
                <a:latin typeface="IBM Plex Sans" pitchFamily="34" charset="0"/>
                <a:ea typeface="IBM Plex Sans" pitchFamily="34" charset="-122"/>
                <a:cs typeface="IBM Plex Sans" pitchFamily="34" charset="-120"/>
              </a:rPr>
              <a:t>AI engine</a:t>
            </a:r>
            <a:endParaRPr lang="en-US" sz="1400" dirty="0"/>
          </a:p>
        </p:txBody>
      </p:sp>
      <p:sp>
        <p:nvSpPr>
          <p:cNvPr id="14" name="Text 12"/>
          <p:cNvSpPr/>
          <p:nvPr/>
        </p:nvSpPr>
        <p:spPr>
          <a:xfrm>
            <a:off x="3505200" y="3700611"/>
            <a:ext cx="5783580" cy="27427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36A"/>
                </a:solidFill>
                <a:latin typeface="IBM Plex Sans" pitchFamily="34" charset="0"/>
                <a:ea typeface="IBM Plex Sans" pitchFamily="34" charset="-122"/>
                <a:cs typeface="IBM Plex Sans" pitchFamily="34" charset="-120"/>
              </a:rPr>
              <a:t>XGBoost delay model · explainable scorecard · policy checks</a:t>
            </a:r>
            <a:endParaRPr lang="en-US" sz="1400" dirty="0"/>
          </a:p>
        </p:txBody>
      </p:sp>
      <p:sp>
        <p:nvSpPr>
          <p:cNvPr id="15" name="Shape 13"/>
          <p:cNvSpPr/>
          <p:nvPr/>
        </p:nvSpPr>
        <p:spPr>
          <a:xfrm>
            <a:off x="812800" y="4190783"/>
            <a:ext cx="10566400" cy="553677"/>
          </a:xfrm>
          <a:prstGeom prst="roundRect">
            <a:avLst>
              <a:gd name="adj" fmla="val 18350"/>
            </a:avLst>
          </a:prstGeom>
          <a:solidFill>
            <a:srgbClr val="FFFFFF"/>
          </a:solidFill>
          <a:ln/>
        </p:spPr>
      </p:sp>
      <p:sp>
        <p:nvSpPr>
          <p:cNvPr id="16" name="Text 14"/>
          <p:cNvSpPr/>
          <p:nvPr/>
        </p:nvSpPr>
        <p:spPr>
          <a:xfrm>
            <a:off x="1041400" y="4343183"/>
            <a:ext cx="2354580" cy="27427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FDF"/>
                </a:solidFill>
                <a:latin typeface="IBM Plex Sans" pitchFamily="34" charset="0"/>
                <a:ea typeface="IBM Plex Sans" pitchFamily="34" charset="-122"/>
                <a:cs typeface="IBM Plex Sans" pitchFamily="34" charset="-120"/>
              </a:rPr>
              <a:t>Data</a:t>
            </a:r>
            <a:endParaRPr lang="en-US" sz="1400" dirty="0"/>
          </a:p>
        </p:txBody>
      </p:sp>
      <p:sp>
        <p:nvSpPr>
          <p:cNvPr id="17" name="Text 15"/>
          <p:cNvSpPr/>
          <p:nvPr/>
        </p:nvSpPr>
        <p:spPr>
          <a:xfrm>
            <a:off x="3505200" y="4343183"/>
            <a:ext cx="6174018" cy="27427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36A"/>
                </a:solidFill>
                <a:latin typeface="IBM Plex Sans" pitchFamily="34" charset="0"/>
                <a:ea typeface="IBM Plex Sans" pitchFamily="34" charset="-122"/>
                <a:cs typeface="IBM Plex Sans" pitchFamily="34" charset="-120"/>
              </a:rPr>
              <a:t>PostgreSQL (encrypted fields) · Redis cache · Docker / Cloud Run</a:t>
            </a:r>
            <a:endParaRPr lang="en-US" sz="1400" dirty="0"/>
          </a:p>
        </p:txBody>
      </p:sp>
      <p:sp>
        <p:nvSpPr>
          <p:cNvPr id="18" name="Text 16"/>
          <p:cNvSpPr/>
          <p:nvPr/>
        </p:nvSpPr>
        <p:spPr>
          <a:xfrm>
            <a:off x="812800" y="5049261"/>
            <a:ext cx="10883392" cy="27427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1B33"/>
                </a:solidFill>
                <a:latin typeface="IBM Plex Sans" pitchFamily="34" charset="0"/>
                <a:ea typeface="IBM Plex Sans" pitchFamily="34" charset="-122"/>
                <a:cs typeface="IBM Plex Sans" pitchFamily="34" charset="-120"/>
              </a:rPr>
              <a:t>22 automated tests · 12 attack tests · one-command Docker stack · every API call logged</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7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B33"/>
                </a:solidFill>
                <a:latin typeface="Space Grotesk" pitchFamily="34" charset="0"/>
                <a:ea typeface="Space Grotesk" pitchFamily="34" charset="-122"/>
                <a:cs typeface="Space Grotesk" pitchFamily="34" charset="-120"/>
              </a:rPr>
              <a:t>Who this helps, and how it pays for itself</a:t>
            </a:r>
            <a:endParaRPr lang="en-US" sz="3600" dirty="0"/>
          </a:p>
        </p:txBody>
      </p:sp>
      <p:sp>
        <p:nvSpPr>
          <p:cNvPr id="3" name="Shape 1"/>
          <p:cNvSpPr/>
          <p:nvPr/>
        </p:nvSpPr>
        <p:spPr>
          <a:xfrm>
            <a:off x="815975" y="1674453"/>
            <a:ext cx="3383395" cy="1768186"/>
          </a:xfrm>
          <a:prstGeom prst="roundRect">
            <a:avLst>
              <a:gd name="adj" fmla="val 7003"/>
            </a:avLst>
          </a:prstGeom>
          <a:solidFill>
            <a:srgbClr val="FFFFFF"/>
          </a:solidFill>
          <a:ln w="6350">
            <a:solidFill>
              <a:srgbClr val="DDE2DA"/>
            </a:solidFill>
            <a:prstDash val="solid"/>
          </a:ln>
        </p:spPr>
      </p:sp>
      <p:sp>
        <p:nvSpPr>
          <p:cNvPr id="4" name="Text 2"/>
          <p:cNvSpPr/>
          <p:nvPr/>
        </p:nvSpPr>
        <p:spPr>
          <a:xfrm>
            <a:off x="1096818" y="1955298"/>
            <a:ext cx="290636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E1B33"/>
                </a:solidFill>
                <a:latin typeface="Space Grotesk" pitchFamily="34" charset="0"/>
                <a:ea typeface="Space Grotesk" pitchFamily="34" charset="-122"/>
                <a:cs typeface="Space Grotesk" pitchFamily="34" charset="-120"/>
              </a:rPr>
              <a:t>SME owners</a:t>
            </a:r>
            <a:endParaRPr lang="en-US" sz="2000" dirty="0"/>
          </a:p>
        </p:txBody>
      </p:sp>
      <p:sp>
        <p:nvSpPr>
          <p:cNvPr id="5" name="Text 3"/>
          <p:cNvSpPr/>
          <p:nvPr/>
        </p:nvSpPr>
        <p:spPr>
          <a:xfrm>
            <a:off x="1096818" y="2361698"/>
            <a:ext cx="290636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6536A"/>
                </a:solidFill>
                <a:latin typeface="IBM Plex Sans" pitchFamily="34" charset="0"/>
                <a:ea typeface="IBM Plex Sans" pitchFamily="34" charset="-122"/>
                <a:cs typeface="IBM Plex Sans" pitchFamily="34" charset="-120"/>
              </a:rPr>
              <a:t>See the crunch weeks ahead and pay less for the money that fixes it.</a:t>
            </a:r>
            <a:endParaRPr lang="en-US" sz="1500" dirty="0"/>
          </a:p>
        </p:txBody>
      </p:sp>
      <p:sp>
        <p:nvSpPr>
          <p:cNvPr id="6" name="Shape 4"/>
          <p:cNvSpPr/>
          <p:nvPr/>
        </p:nvSpPr>
        <p:spPr>
          <a:xfrm>
            <a:off x="4408920" y="1674453"/>
            <a:ext cx="3383395" cy="1768186"/>
          </a:xfrm>
          <a:prstGeom prst="roundRect">
            <a:avLst>
              <a:gd name="adj" fmla="val 7003"/>
            </a:avLst>
          </a:prstGeom>
          <a:solidFill>
            <a:srgbClr val="FFFFFF"/>
          </a:solidFill>
          <a:ln w="6350">
            <a:solidFill>
              <a:srgbClr val="DDE2DA"/>
            </a:solidFill>
            <a:prstDash val="solid"/>
          </a:ln>
        </p:spPr>
      </p:sp>
      <p:sp>
        <p:nvSpPr>
          <p:cNvPr id="7" name="Text 5"/>
          <p:cNvSpPr/>
          <p:nvPr/>
        </p:nvSpPr>
        <p:spPr>
          <a:xfrm>
            <a:off x="4689764" y="1955298"/>
            <a:ext cx="290636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E1B33"/>
                </a:solidFill>
                <a:latin typeface="Space Grotesk" pitchFamily="34" charset="0"/>
                <a:ea typeface="Space Grotesk" pitchFamily="34" charset="-122"/>
                <a:cs typeface="Space Grotesk" pitchFamily="34" charset="-120"/>
              </a:rPr>
              <a:t>Lenders &amp; NBFIs</a:t>
            </a:r>
            <a:endParaRPr lang="en-US" sz="2000" dirty="0"/>
          </a:p>
        </p:txBody>
      </p:sp>
      <p:sp>
        <p:nvSpPr>
          <p:cNvPr id="8" name="Text 6"/>
          <p:cNvSpPr/>
          <p:nvPr/>
        </p:nvSpPr>
        <p:spPr>
          <a:xfrm>
            <a:off x="4689764" y="2361698"/>
            <a:ext cx="290636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6536A"/>
                </a:solidFill>
                <a:latin typeface="IBM Plex Sans" pitchFamily="34" charset="0"/>
                <a:ea typeface="IBM Plex Sans" pitchFamily="34" charset="-122"/>
                <a:cs typeface="IBM Plex Sans" pitchFamily="34" charset="-120"/>
              </a:rPr>
              <a:t>Receive pre-vetted, explainable, audit-ready applications from thin-file SMEs.</a:t>
            </a:r>
            <a:endParaRPr lang="en-US" sz="1500" dirty="0"/>
          </a:p>
        </p:txBody>
      </p:sp>
      <p:sp>
        <p:nvSpPr>
          <p:cNvPr id="9" name="Shape 7"/>
          <p:cNvSpPr/>
          <p:nvPr/>
        </p:nvSpPr>
        <p:spPr>
          <a:xfrm>
            <a:off x="7998691" y="1671278"/>
            <a:ext cx="3380509" cy="1774536"/>
          </a:xfrm>
          <a:prstGeom prst="roundRect">
            <a:avLst>
              <a:gd name="adj" fmla="val 7157"/>
            </a:avLst>
          </a:prstGeom>
          <a:solidFill>
            <a:srgbClr val="0E1B33"/>
          </a:solidFill>
          <a:ln/>
        </p:spPr>
      </p:sp>
      <p:sp>
        <p:nvSpPr>
          <p:cNvPr id="10" name="Text 8"/>
          <p:cNvSpPr/>
          <p:nvPr/>
        </p:nvSpPr>
        <p:spPr>
          <a:xfrm>
            <a:off x="8278091" y="1950678"/>
            <a:ext cx="290636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5F6F2"/>
                </a:solidFill>
                <a:latin typeface="Space Grotesk" pitchFamily="34" charset="0"/>
                <a:ea typeface="Space Grotesk" pitchFamily="34" charset="-122"/>
                <a:cs typeface="Space Grotesk" pitchFamily="34" charset="-120"/>
              </a:rPr>
              <a:t>Next 6 months</a:t>
            </a:r>
            <a:endParaRPr lang="en-US" sz="2000" dirty="0"/>
          </a:p>
        </p:txBody>
      </p:sp>
      <p:sp>
        <p:nvSpPr>
          <p:cNvPr id="11" name="Text 9"/>
          <p:cNvSpPr/>
          <p:nvPr/>
        </p:nvSpPr>
        <p:spPr>
          <a:xfrm>
            <a:off x="8278091" y="2357078"/>
            <a:ext cx="290636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C6DA"/>
                </a:solidFill>
                <a:latin typeface="IBM Plex Sans" pitchFamily="34" charset="0"/>
                <a:ea typeface="IBM Plex Sans" pitchFamily="34" charset="-122"/>
                <a:cs typeface="IBM Plex Sans" pitchFamily="34" charset="-120"/>
              </a:rPr>
              <a:t>Pilot with 3+ Cairo SMEs · calibrate on real ledgers · first NBFI partner API</a:t>
            </a:r>
            <a:endParaRPr lang="en-US" sz="1500" dirty="0"/>
          </a:p>
        </p:txBody>
      </p:sp>
      <p:sp>
        <p:nvSpPr>
          <p:cNvPr id="12" name="Text 10"/>
          <p:cNvSpPr/>
          <p:nvPr/>
        </p:nvSpPr>
        <p:spPr>
          <a:xfrm>
            <a:off x="812800" y="3801418"/>
            <a:ext cx="10203180"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E1B33"/>
                </a:solidFill>
                <a:latin typeface="IBM Plex Sans" pitchFamily="34" charset="0"/>
                <a:ea typeface="IBM Plex Sans" pitchFamily="34" charset="-122"/>
                <a:cs typeface="IBM Plex Sans" pitchFamily="34" charset="-120"/>
              </a:rPr>
              <a:t>Why it matters:</a:t>
            </a:r>
            <a:r>
              <a:rPr lang="en-US" sz="1500" dirty="0">
                <a:solidFill>
                  <a:srgbClr val="46536A"/>
                </a:solidFill>
                <a:latin typeface="IBM Plex Sans" pitchFamily="34" charset="0"/>
                <a:ea typeface="IBM Plex Sans" pitchFamily="34" charset="-122"/>
                <a:cs typeface="IBM Plex Sans" pitchFamily="34" charset="-120"/>
              </a:rPr>
              <a:t> small businesses produce more than a third of Egypt’s GDP and employ almost 40% of its workers.</a:t>
            </a:r>
            <a:endParaRPr lang="en-US" sz="1500" dirty="0"/>
          </a:p>
          <a:p>
            <a:pPr algn="l" indent="0" marL="0">
              <a:lnSpc>
                <a:spcPts val="2100"/>
              </a:lnSpc>
              <a:buNone/>
            </a:pPr>
            <a:r>
              <a:rPr lang="en-US" sz="1500" b="1" dirty="0">
                <a:solidFill>
                  <a:srgbClr val="0E1B33"/>
                </a:solidFill>
                <a:latin typeface="IBM Plex Sans" pitchFamily="34" charset="0"/>
                <a:ea typeface="IBM Plex Sans" pitchFamily="34" charset="-122"/>
                <a:cs typeface="IBM Plex Sans" pitchFamily="34" charset="-120"/>
              </a:rPr>
              <a:t>How it earns:</a:t>
            </a:r>
            <a:r>
              <a:rPr lang="en-US" sz="1500" dirty="0">
                <a:solidFill>
                  <a:srgbClr val="46536A"/>
                </a:solidFill>
                <a:latin typeface="IBM Plex Sans" pitchFamily="34" charset="0"/>
                <a:ea typeface="IBM Plex Sans" pitchFamily="34" charset="-122"/>
                <a:cs typeface="IBM Plex Sans" pitchFamily="34" charset="-120"/>
              </a:rPr>
              <a:t> free for the SME; the lender pays a referral fee on each funded application [fee % to confirm].</a:t>
            </a:r>
            <a:endParaRPr lang="en-US" sz="1500" dirty="0"/>
          </a:p>
        </p:txBody>
      </p:sp>
      <p:sp>
        <p:nvSpPr>
          <p:cNvPr id="13" name="Text 11"/>
          <p:cNvSpPr/>
          <p:nvPr/>
        </p:nvSpPr>
        <p:spPr>
          <a:xfrm>
            <a:off x="812800" y="6289098"/>
            <a:ext cx="10883392" cy="2387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488"/>
                </a:solidFill>
                <a:latin typeface="IBM Plex Sans" pitchFamily="34" charset="0"/>
                <a:ea typeface="IBM Plex Sans" pitchFamily="34" charset="-122"/>
                <a:cs typeface="IBM Plex Sans" pitchFamily="34" charset="-120"/>
              </a:rPr>
              <a:t>Source: IFC press release, 4 Nov 2025 (Suez Canal Bank partnership)</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B33"/>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9525000" y="4064000"/>
            <a:ext cx="1905000" cy="1905000"/>
          </a:xfrm>
          <a:prstGeom prst="rect">
            <a:avLst/>
          </a:prstGeom>
        </p:spPr>
      </p:pic>
      <p:pic>
        <p:nvPicPr>
          <p:cNvPr id="3" name="Image 1" descr="ellipse">    </p:cNvPr>
          <p:cNvPicPr>
            <a:picLocks noChangeAspect="1"/>
          </p:cNvPicPr>
          <p:nvPr/>
        </p:nvPicPr>
        <p:blipFill>
          <a:blip r:embed="rId2"/>
          <a:srcRect l="0" r="0" t="0" b="0"/>
          <a:stretch/>
        </p:blipFill>
        <p:spPr>
          <a:xfrm>
            <a:off x="10795000" y="3556000"/>
            <a:ext cx="952500" cy="952500"/>
          </a:xfrm>
          <a:prstGeom prst="rect">
            <a:avLst/>
          </a:prstGeom>
        </p:spPr>
      </p:pic>
      <p:sp>
        <p:nvSpPr>
          <p:cNvPr id="4" name="Text 0"/>
          <p:cNvSpPr/>
          <p:nvPr>
            <p:ph type="title"/>
          </p:nvPr>
        </p:nvSpPr>
        <p:spPr>
          <a:xfrm>
            <a:off x="812800" y="1696820"/>
            <a:ext cx="8502650" cy="1945554"/>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5F6F2"/>
                </a:solidFill>
                <a:latin typeface="Space Grotesk" pitchFamily="34" charset="0"/>
                <a:ea typeface="Space Grotesk" pitchFamily="34" charset="-122"/>
                <a:cs typeface="Space Grotesk" pitchFamily="34" charset="-120"/>
              </a:rPr>
              <a:t>MicroFlow AI: cash on time, decisions in the owner’s hands</a:t>
            </a:r>
            <a:endParaRPr lang="en-US" sz="4800" dirty="0"/>
          </a:p>
        </p:txBody>
      </p:sp>
      <p:sp>
        <p:nvSpPr>
          <p:cNvPr id="5" name="Text 1"/>
          <p:cNvSpPr/>
          <p:nvPr/>
        </p:nvSpPr>
        <p:spPr>
          <a:xfrm>
            <a:off x="812800" y="3972576"/>
            <a:ext cx="2519951" cy="30985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5F6F2"/>
                </a:solidFill>
                <a:latin typeface="IBM Plex Sans" pitchFamily="34" charset="0"/>
                <a:ea typeface="IBM Plex Sans" pitchFamily="34" charset="-122"/>
                <a:cs typeface="IBM Plex Sans" pitchFamily="34" charset="-120"/>
              </a:rPr>
              <a:t>Kareem Diaa Helal</a:t>
            </a:r>
            <a:endParaRPr lang="en-US" sz="1600" dirty="0"/>
          </a:p>
        </p:txBody>
      </p:sp>
      <p:sp>
        <p:nvSpPr>
          <p:cNvPr id="6" name="Text 2"/>
          <p:cNvSpPr/>
          <p:nvPr/>
        </p:nvSpPr>
        <p:spPr>
          <a:xfrm>
            <a:off x="812800" y="4307830"/>
            <a:ext cx="2802154" cy="27427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6DA"/>
                </a:solidFill>
                <a:latin typeface="IBM Plex Sans" pitchFamily="34" charset="0"/>
                <a:ea typeface="IBM Plex Sans" pitchFamily="34" charset="-122"/>
                <a:cs typeface="IBM Plex Sans" pitchFamily="34" charset="-120"/>
              </a:rPr>
              <a:t>Cybersecurity · security design</a:t>
            </a:r>
            <a:endParaRPr lang="en-US" sz="1400" dirty="0"/>
          </a:p>
        </p:txBody>
      </p:sp>
      <p:sp>
        <p:nvSpPr>
          <p:cNvPr id="7" name="Text 3"/>
          <p:cNvSpPr/>
          <p:nvPr/>
        </p:nvSpPr>
        <p:spPr>
          <a:xfrm>
            <a:off x="3614954" y="3972576"/>
            <a:ext cx="2817915" cy="30985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5F6F2"/>
                </a:solidFill>
                <a:latin typeface="IBM Plex Sans" pitchFamily="34" charset="0"/>
                <a:ea typeface="IBM Plex Sans" pitchFamily="34" charset="-122"/>
                <a:cs typeface="IBM Plex Sans" pitchFamily="34" charset="-120"/>
              </a:rPr>
              <a:t>Ahmed Mohamed</a:t>
            </a:r>
            <a:endParaRPr lang="en-US" sz="1600" dirty="0"/>
          </a:p>
        </p:txBody>
      </p:sp>
      <p:sp>
        <p:nvSpPr>
          <p:cNvPr id="8" name="Text 4"/>
          <p:cNvSpPr/>
          <p:nvPr/>
        </p:nvSpPr>
        <p:spPr>
          <a:xfrm>
            <a:off x="3614954" y="4307830"/>
            <a:ext cx="3091440" cy="27427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6DA"/>
                </a:solidFill>
                <a:latin typeface="IBM Plex Sans" pitchFamily="34" charset="0"/>
                <a:ea typeface="IBM Plex Sans" pitchFamily="34" charset="-122"/>
                <a:cs typeface="IBM Plex Sans" pitchFamily="34" charset="-120"/>
              </a:rPr>
              <a:t>Cloud · architecture &amp; deployment</a:t>
            </a:r>
            <a:endParaRPr lang="en-US" sz="1400" dirty="0"/>
          </a:p>
        </p:txBody>
      </p:sp>
      <p:sp>
        <p:nvSpPr>
          <p:cNvPr id="9" name="Text 5"/>
          <p:cNvSpPr/>
          <p:nvPr/>
        </p:nvSpPr>
        <p:spPr>
          <a:xfrm>
            <a:off x="6706394" y="3972576"/>
            <a:ext cx="2405842" cy="30985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5F6F2"/>
                </a:solidFill>
                <a:latin typeface="IBM Plex Sans" pitchFamily="34" charset="0"/>
                <a:ea typeface="IBM Plex Sans" pitchFamily="34" charset="-122"/>
                <a:cs typeface="IBM Plex Sans" pitchFamily="34" charset="-120"/>
              </a:rPr>
              <a:t>Mostafa Abdelhamed</a:t>
            </a:r>
            <a:endParaRPr lang="en-US" sz="1600" dirty="0"/>
          </a:p>
        </p:txBody>
      </p:sp>
      <p:sp>
        <p:nvSpPr>
          <p:cNvPr id="10" name="Text 6"/>
          <p:cNvSpPr/>
          <p:nvPr/>
        </p:nvSpPr>
        <p:spPr>
          <a:xfrm>
            <a:off x="6706394" y="4307830"/>
            <a:ext cx="2065014" cy="27427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6DA"/>
                </a:solidFill>
                <a:latin typeface="IBM Plex Sans" pitchFamily="34" charset="0"/>
                <a:ea typeface="IBM Plex Sans" pitchFamily="34" charset="-122"/>
                <a:cs typeface="IBM Plex Sans" pitchFamily="34" charset="-120"/>
              </a:rPr>
              <a:t>AI · models &amp; analytics</a:t>
            </a:r>
            <a:endParaRPr lang="en-US" sz="1400" dirty="0"/>
          </a:p>
        </p:txBody>
      </p:sp>
      <p:sp>
        <p:nvSpPr>
          <p:cNvPr id="11" name="Text 7"/>
          <p:cNvSpPr/>
          <p:nvPr/>
        </p:nvSpPr>
        <p:spPr>
          <a:xfrm>
            <a:off x="812800" y="4912308"/>
            <a:ext cx="10883392" cy="27427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6DA"/>
                </a:solidFill>
                <a:latin typeface="IBM Plex Sans" pitchFamily="34" charset="0"/>
                <a:ea typeface="IBM Plex Sans" pitchFamily="34" charset="-122"/>
                <a:cs typeface="IBM Plex Sans" pitchFamily="34" charset="-120"/>
              </a:rPr>
              <a:t>Code, technical documentation, security report and sandbox logs:</a:t>
            </a:r>
            <a:r>
              <a:rPr lang="en-US" sz="1400" u="sng" dirty="0">
                <a:solidFill>
                  <a:srgbClr val="B9C6DA"/>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 github.com/kareem-diaa/MicroFlow-AI</a:t>
            </a:r>
            <a:endParaRPr lang="en-US" sz="1400" dirty="0"/>
          </a:p>
        </p:txBody>
      </p:sp>
    </p:spTree>
  </p:cSld>
  <p:clrMapOvr>
    <a:masterClrMapping/>
  </p:clrMapOvr>
</p:sld>
</file>

<file path=ppt/theme/theme1.xml><?xml version="1.0" encoding="utf-8"?>
<a:theme xmlns:a="http://schemas.openxmlformats.org/drawingml/2006/main" name="MicroFlow AI — SME Finance Copilot">
  <a:themeElements>
    <a:clrScheme name="MicroFlow AI — SME Finance Copilot">
      <a:dk1>
        <a:srgbClr val="0E1B33"/>
      </a:dk1>
      <a:lt1>
        <a:srgbClr val="F5F6F2"/>
      </a:lt1>
      <a:dk2>
        <a:srgbClr val="485263"/>
      </a:dk2>
      <a:lt2>
        <a:srgbClr val="DEE0DF"/>
      </a:lt2>
      <a:accent1>
        <a:srgbClr val="2F6FDF"/>
      </a:accent1>
      <a:accent2>
        <a:srgbClr val="E8893A"/>
      </a:accent2>
      <a:accent3>
        <a:srgbClr val="7FA8F0"/>
      </a:accent3>
      <a:accent4>
        <a:srgbClr val="1B3566"/>
      </a:accent4>
      <a:accent5>
        <a:srgbClr val="C4651C"/>
      </a:accent5>
      <a:accent6>
        <a:srgbClr val="46536A"/>
      </a:accent6>
      <a:hlink>
        <a:srgbClr val="0563C1"/>
      </a:hlink>
      <a:folHlink>
        <a:srgbClr val="954F72"/>
      </a:folHlink>
    </a:clrScheme>
    <a:fontScheme name="MicroFlow AI — SME Finance Copilot">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MicroFlow AI — SME Finance Copilot</dc:title>
  <dc:subject/>
  <dc:creator/>
  <cp:lastModifiedBy/>
  <cp:revision>1</cp:revision>
  <dcterms:created xsi:type="dcterms:W3CDTF">2026-10-19T17:37:02Z</dcterms:created>
  <dcterms:modified xsi:type="dcterms:W3CDTF">2026-10-19T17:37:02Z</dcterms:modified>
</cp:coreProperties>
</file>